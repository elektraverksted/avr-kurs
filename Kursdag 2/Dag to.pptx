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60" r:id="rId4"/>
    <p:sldId id="269" r:id="rId5"/>
    <p:sldId id="270" r:id="rId6"/>
    <p:sldId id="267" r:id="rId7"/>
    <p:sldId id="268" r:id="rId8"/>
    <p:sldId id="259" r:id="rId9"/>
    <p:sldId id="261" r:id="rId10"/>
    <p:sldId id="262" r:id="rId11"/>
    <p:sldId id="263" r:id="rId12"/>
    <p:sldId id="264" r:id="rId13"/>
    <p:sldId id="265" r:id="rId14"/>
    <p:sldId id="266" r:id="rId15"/>
    <p:sldId id="258" r:id="rId16"/>
    <p:sldId id="271" r:id="rId17"/>
    <p:sldId id="272" r:id="rId18"/>
    <p:sldId id="274" r:id="rId19"/>
    <p:sldId id="275" r:id="rId20"/>
    <p:sldId id="273" r:id="rId21"/>
  </p:sldIdLst>
  <p:sldSz cx="12192000" cy="6858000"/>
  <p:notesSz cx="6858000" cy="9144000"/>
  <p:defaultTextStyle>
    <a:defPPr>
      <a:defRPr lang="nb-N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6" d="100"/>
          <a:sy n="76" d="100"/>
        </p:scale>
        <p:origin x="-7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top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b-NO"/>
          </a:p>
        </p:txBody>
      </p:sp>
      <p:sp>
        <p:nvSpPr>
          <p:cNvPr id="3" name="Plassholder for dato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B6A25B-A690-4E14-9ED0-D2ECF6431ED6}" type="datetimeFigureOut">
              <a:rPr lang="nb-NO" smtClean="0"/>
              <a:t>15.03.2026</a:t>
            </a:fld>
            <a:endParaRPr lang="nb-NO"/>
          </a:p>
        </p:txBody>
      </p:sp>
      <p:sp>
        <p:nvSpPr>
          <p:cNvPr id="4" name="Plassholder for lysbil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b-NO"/>
          </a:p>
        </p:txBody>
      </p:sp>
      <p:sp>
        <p:nvSpPr>
          <p:cNvPr id="5" name="Plassholder for nota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6" name="Plassholder for bunn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b-NO"/>
          </a:p>
        </p:txBody>
      </p:sp>
      <p:sp>
        <p:nvSpPr>
          <p:cNvPr id="7" name="Plassholder for lysbilde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6CEED96-8DE0-441C-B2ED-FF713A48F07D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29185295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lysbil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ssholder for nota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b-NO" dirty="0"/>
              <a:t>Bemerk at en seriell kommunikasjonsprotokoll sender data bitvis, en og en</a:t>
            </a:r>
          </a:p>
        </p:txBody>
      </p:sp>
      <p:sp>
        <p:nvSpPr>
          <p:cNvPr id="4" name="Plassholder for lysbil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CEED96-8DE0-441C-B2ED-FF713A48F07D}" type="slidenum">
              <a:rPr lang="nb-NO" smtClean="0"/>
              <a:t>20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346169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tellysbil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C6509A03-9F0A-E72C-2C62-709941A0E4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b-NO"/>
              <a:t>Klikk for å redigere tittelstil</a:t>
            </a:r>
          </a:p>
        </p:txBody>
      </p:sp>
      <p:sp>
        <p:nvSpPr>
          <p:cNvPr id="3" name="Undertittel 2">
            <a:extLst>
              <a:ext uri="{FF2B5EF4-FFF2-40B4-BE49-F238E27FC236}">
                <a16:creationId xmlns:a16="http://schemas.microsoft.com/office/drawing/2014/main" id="{75743787-8E22-F1E5-D4AC-1BDA83684A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b-NO"/>
              <a:t>Klikk for å redigere undertittelstil i malen</a:t>
            </a:r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E871C1C2-BB33-7ED7-A39F-429E23F821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F7994A-41AD-4027-8E6D-AD66A7C6695C}" type="datetimeFigureOut">
              <a:rPr lang="nb-NO" smtClean="0"/>
              <a:t>15.03.2026</a:t>
            </a:fld>
            <a:endParaRPr lang="nb-NO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9AABC220-53F8-9686-70F0-14368B3036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69D16290-A80F-ECC0-D96F-22A0AF3BB8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FA1624-E44C-4A01-8E89-B93DDAFA247C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256124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tel og innho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98FF637A-1229-28F9-32A2-D1722ED860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351EA68F-7D4A-7D84-1D27-C1B8022866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6A2AD12D-4456-E55F-AB02-50F21C535A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F7994A-41AD-4027-8E6D-AD66A7C6695C}" type="datetimeFigureOut">
              <a:rPr lang="nb-NO" smtClean="0"/>
              <a:t>15.03.2026</a:t>
            </a:fld>
            <a:endParaRPr lang="nb-NO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F3CC9397-06A5-E477-2B62-45E8A9065E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62FD9120-AF76-0A4E-05A8-13CDFD6F96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FA1624-E44C-4A01-8E89-B93DDAFA247C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23873102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Deloversk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63481F20-B6CB-303C-3F7E-12D1D9F4BE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tekst 2">
            <a:extLst>
              <a:ext uri="{FF2B5EF4-FFF2-40B4-BE49-F238E27FC236}">
                <a16:creationId xmlns:a16="http://schemas.microsoft.com/office/drawing/2014/main" id="{F901B874-2F25-FF15-EDDE-BCEFB4D1DA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nb-NO"/>
              <a:t>Klikk for å redigere tekststiler i malen</a:t>
            </a:r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800B879F-CB7B-B28D-7938-C0D0695FC4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F7994A-41AD-4027-8E6D-AD66A7C6695C}" type="datetimeFigureOut">
              <a:rPr lang="nb-NO" smtClean="0"/>
              <a:t>15.03.2026</a:t>
            </a:fld>
            <a:endParaRPr lang="nb-NO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56CF1512-E88C-BE30-7DC9-3559329719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AB208BF3-2537-F945-0AE7-A0951E524A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FA1624-E44C-4A01-8E89-B93DDAFA247C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4019049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o innholdsdel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F4FE363A-119F-8142-5203-B5678E91CF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96112591-67C5-F308-4CC3-49199180356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4" name="Plassholder for innhold 3">
            <a:extLst>
              <a:ext uri="{FF2B5EF4-FFF2-40B4-BE49-F238E27FC236}">
                <a16:creationId xmlns:a16="http://schemas.microsoft.com/office/drawing/2014/main" id="{B567C126-A6ED-3953-31B4-861762C3F3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5" name="Plassholder for dato 4">
            <a:extLst>
              <a:ext uri="{FF2B5EF4-FFF2-40B4-BE49-F238E27FC236}">
                <a16:creationId xmlns:a16="http://schemas.microsoft.com/office/drawing/2014/main" id="{FA23CDD2-BFCA-5011-A513-FEF414825A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F7994A-41AD-4027-8E6D-AD66A7C6695C}" type="datetimeFigureOut">
              <a:rPr lang="nb-NO" smtClean="0"/>
              <a:t>15.03.2026</a:t>
            </a:fld>
            <a:endParaRPr lang="nb-NO"/>
          </a:p>
        </p:txBody>
      </p:sp>
      <p:sp>
        <p:nvSpPr>
          <p:cNvPr id="6" name="Plassholder for bunntekst 5">
            <a:extLst>
              <a:ext uri="{FF2B5EF4-FFF2-40B4-BE49-F238E27FC236}">
                <a16:creationId xmlns:a16="http://schemas.microsoft.com/office/drawing/2014/main" id="{4A5A99E3-EC77-774C-F43D-E40D1E743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7" name="Plassholder for lysbildenummer 6">
            <a:extLst>
              <a:ext uri="{FF2B5EF4-FFF2-40B4-BE49-F238E27FC236}">
                <a16:creationId xmlns:a16="http://schemas.microsoft.com/office/drawing/2014/main" id="{1EBEE2F6-795B-E444-DC73-05F21A819E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FA1624-E44C-4A01-8E89-B93DDAFA247C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3963509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Sammenlig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9D3DD114-BA29-4738-7318-D232794DB0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tekst 2">
            <a:extLst>
              <a:ext uri="{FF2B5EF4-FFF2-40B4-BE49-F238E27FC236}">
                <a16:creationId xmlns:a16="http://schemas.microsoft.com/office/drawing/2014/main" id="{798E6BB7-D9AD-65C3-8844-82FF47100E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b-NO"/>
              <a:t>Klikk for å redigere tekststiler i malen</a:t>
            </a:r>
          </a:p>
        </p:txBody>
      </p:sp>
      <p:sp>
        <p:nvSpPr>
          <p:cNvPr id="4" name="Plassholder for innhold 3">
            <a:extLst>
              <a:ext uri="{FF2B5EF4-FFF2-40B4-BE49-F238E27FC236}">
                <a16:creationId xmlns:a16="http://schemas.microsoft.com/office/drawing/2014/main" id="{BE4196EA-9D8A-5013-04AB-919B3706FA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5" name="Plassholder for tekst 4">
            <a:extLst>
              <a:ext uri="{FF2B5EF4-FFF2-40B4-BE49-F238E27FC236}">
                <a16:creationId xmlns:a16="http://schemas.microsoft.com/office/drawing/2014/main" id="{4B6A42A5-F6BD-BF2C-9DF2-1D4B60F990E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b-NO"/>
              <a:t>Klikk for å redigere tekststiler i malen</a:t>
            </a:r>
          </a:p>
        </p:txBody>
      </p:sp>
      <p:sp>
        <p:nvSpPr>
          <p:cNvPr id="6" name="Plassholder for innhold 5">
            <a:extLst>
              <a:ext uri="{FF2B5EF4-FFF2-40B4-BE49-F238E27FC236}">
                <a16:creationId xmlns:a16="http://schemas.microsoft.com/office/drawing/2014/main" id="{081E38F5-4BFE-9DA4-ED4E-7C260F2D3D3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7" name="Plassholder for dato 6">
            <a:extLst>
              <a:ext uri="{FF2B5EF4-FFF2-40B4-BE49-F238E27FC236}">
                <a16:creationId xmlns:a16="http://schemas.microsoft.com/office/drawing/2014/main" id="{276242D0-6316-4527-95DF-B12D2D08E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F7994A-41AD-4027-8E6D-AD66A7C6695C}" type="datetimeFigureOut">
              <a:rPr lang="nb-NO" smtClean="0"/>
              <a:t>15.03.2026</a:t>
            </a:fld>
            <a:endParaRPr lang="nb-NO"/>
          </a:p>
        </p:txBody>
      </p:sp>
      <p:sp>
        <p:nvSpPr>
          <p:cNvPr id="8" name="Plassholder for bunntekst 7">
            <a:extLst>
              <a:ext uri="{FF2B5EF4-FFF2-40B4-BE49-F238E27FC236}">
                <a16:creationId xmlns:a16="http://schemas.microsoft.com/office/drawing/2014/main" id="{14E5C79D-EAE5-F380-63E4-0CA231268C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9" name="Plassholder for lysbildenummer 8">
            <a:extLst>
              <a:ext uri="{FF2B5EF4-FFF2-40B4-BE49-F238E27FC236}">
                <a16:creationId xmlns:a16="http://schemas.microsoft.com/office/drawing/2014/main" id="{E9496D58-A626-DACC-1C0E-BC26FFB2E7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FA1624-E44C-4A01-8E89-B93DDAFA247C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22847804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Bare tit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E6CA253A-2984-11CD-FD0B-BB2980674C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dato 2">
            <a:extLst>
              <a:ext uri="{FF2B5EF4-FFF2-40B4-BE49-F238E27FC236}">
                <a16:creationId xmlns:a16="http://schemas.microsoft.com/office/drawing/2014/main" id="{2AC2B438-7779-0E45-FE57-879CD47EB2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F7994A-41AD-4027-8E6D-AD66A7C6695C}" type="datetimeFigureOut">
              <a:rPr lang="nb-NO" smtClean="0"/>
              <a:t>15.03.2026</a:t>
            </a:fld>
            <a:endParaRPr lang="nb-NO"/>
          </a:p>
        </p:txBody>
      </p:sp>
      <p:sp>
        <p:nvSpPr>
          <p:cNvPr id="4" name="Plassholder for bunntekst 3">
            <a:extLst>
              <a:ext uri="{FF2B5EF4-FFF2-40B4-BE49-F238E27FC236}">
                <a16:creationId xmlns:a16="http://schemas.microsoft.com/office/drawing/2014/main" id="{23E3619E-1149-769E-8297-54EA631EB4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5" name="Plassholder for lysbildenummer 4">
            <a:extLst>
              <a:ext uri="{FF2B5EF4-FFF2-40B4-BE49-F238E27FC236}">
                <a16:creationId xmlns:a16="http://schemas.microsoft.com/office/drawing/2014/main" id="{79ACBC5F-5581-773D-1B51-1C835B8B8E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FA1624-E44C-4A01-8E89-B93DDAFA247C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5221353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dato 1">
            <a:extLst>
              <a:ext uri="{FF2B5EF4-FFF2-40B4-BE49-F238E27FC236}">
                <a16:creationId xmlns:a16="http://schemas.microsoft.com/office/drawing/2014/main" id="{3EA5D460-3796-42F3-DE47-2B9C03DE3C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F7994A-41AD-4027-8E6D-AD66A7C6695C}" type="datetimeFigureOut">
              <a:rPr lang="nb-NO" smtClean="0"/>
              <a:t>15.03.2026</a:t>
            </a:fld>
            <a:endParaRPr lang="nb-NO"/>
          </a:p>
        </p:txBody>
      </p:sp>
      <p:sp>
        <p:nvSpPr>
          <p:cNvPr id="3" name="Plassholder for bunntekst 2">
            <a:extLst>
              <a:ext uri="{FF2B5EF4-FFF2-40B4-BE49-F238E27FC236}">
                <a16:creationId xmlns:a16="http://schemas.microsoft.com/office/drawing/2014/main" id="{DF5E1D66-1EE7-FA53-F25B-5D7954361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4" name="Plassholder for lysbildenummer 3">
            <a:extLst>
              <a:ext uri="{FF2B5EF4-FFF2-40B4-BE49-F238E27FC236}">
                <a16:creationId xmlns:a16="http://schemas.microsoft.com/office/drawing/2014/main" id="{9A8204BF-E497-E7C7-280B-738EF250F3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FA1624-E44C-4A01-8E89-B93DDAFA247C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4330946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nhold med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E7507BB8-517E-197D-6776-9C740E1C72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E2832A1A-6021-C3EE-9941-1FAEE33230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4" name="Plassholder for tekst 3">
            <a:extLst>
              <a:ext uri="{FF2B5EF4-FFF2-40B4-BE49-F238E27FC236}">
                <a16:creationId xmlns:a16="http://schemas.microsoft.com/office/drawing/2014/main" id="{6E5811D9-A5EA-00BD-DA77-5502B24429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b-NO"/>
              <a:t>Klikk for å redigere tekststiler i malen</a:t>
            </a:r>
          </a:p>
        </p:txBody>
      </p:sp>
      <p:sp>
        <p:nvSpPr>
          <p:cNvPr id="5" name="Plassholder for dato 4">
            <a:extLst>
              <a:ext uri="{FF2B5EF4-FFF2-40B4-BE49-F238E27FC236}">
                <a16:creationId xmlns:a16="http://schemas.microsoft.com/office/drawing/2014/main" id="{27DA1BE5-4D3D-9845-018F-70384ADDB3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F7994A-41AD-4027-8E6D-AD66A7C6695C}" type="datetimeFigureOut">
              <a:rPr lang="nb-NO" smtClean="0"/>
              <a:t>15.03.2026</a:t>
            </a:fld>
            <a:endParaRPr lang="nb-NO"/>
          </a:p>
        </p:txBody>
      </p:sp>
      <p:sp>
        <p:nvSpPr>
          <p:cNvPr id="6" name="Plassholder for bunntekst 5">
            <a:extLst>
              <a:ext uri="{FF2B5EF4-FFF2-40B4-BE49-F238E27FC236}">
                <a16:creationId xmlns:a16="http://schemas.microsoft.com/office/drawing/2014/main" id="{DE57FD96-211D-F312-AC09-8B1B230D90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7" name="Plassholder for lysbildenummer 6">
            <a:extLst>
              <a:ext uri="{FF2B5EF4-FFF2-40B4-BE49-F238E27FC236}">
                <a16:creationId xmlns:a16="http://schemas.microsoft.com/office/drawing/2014/main" id="{4D641F1A-412E-60B5-3192-2E90A4AEB8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FA1624-E44C-4A01-8E89-B93DDAFA247C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41754365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e med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0C6341E1-F30B-6ABA-2D87-D97B0C9487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bilde 2">
            <a:extLst>
              <a:ext uri="{FF2B5EF4-FFF2-40B4-BE49-F238E27FC236}">
                <a16:creationId xmlns:a16="http://schemas.microsoft.com/office/drawing/2014/main" id="{6A235E5A-814F-FD35-DB50-275B0C1D5DF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b-NO"/>
          </a:p>
        </p:txBody>
      </p:sp>
      <p:sp>
        <p:nvSpPr>
          <p:cNvPr id="4" name="Plassholder for tekst 3">
            <a:extLst>
              <a:ext uri="{FF2B5EF4-FFF2-40B4-BE49-F238E27FC236}">
                <a16:creationId xmlns:a16="http://schemas.microsoft.com/office/drawing/2014/main" id="{3A93B522-A5B3-DB5E-2E42-F97D3519FC7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b-NO"/>
              <a:t>Klikk for å redigere tekststiler i malen</a:t>
            </a:r>
          </a:p>
        </p:txBody>
      </p:sp>
      <p:sp>
        <p:nvSpPr>
          <p:cNvPr id="5" name="Plassholder for dato 4">
            <a:extLst>
              <a:ext uri="{FF2B5EF4-FFF2-40B4-BE49-F238E27FC236}">
                <a16:creationId xmlns:a16="http://schemas.microsoft.com/office/drawing/2014/main" id="{F081B9B9-EBB7-A3E5-CF1D-3EB7365128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F7994A-41AD-4027-8E6D-AD66A7C6695C}" type="datetimeFigureOut">
              <a:rPr lang="nb-NO" smtClean="0"/>
              <a:t>15.03.2026</a:t>
            </a:fld>
            <a:endParaRPr lang="nb-NO"/>
          </a:p>
        </p:txBody>
      </p:sp>
      <p:sp>
        <p:nvSpPr>
          <p:cNvPr id="6" name="Plassholder for bunntekst 5">
            <a:extLst>
              <a:ext uri="{FF2B5EF4-FFF2-40B4-BE49-F238E27FC236}">
                <a16:creationId xmlns:a16="http://schemas.microsoft.com/office/drawing/2014/main" id="{5DE773F0-E3A1-1D38-FC24-B3D0B88DB4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7" name="Plassholder for lysbildenummer 6">
            <a:extLst>
              <a:ext uri="{FF2B5EF4-FFF2-40B4-BE49-F238E27FC236}">
                <a16:creationId xmlns:a16="http://schemas.microsoft.com/office/drawing/2014/main" id="{54DAA6B4-78EA-87F5-097C-FD2B5A9F5D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FA1624-E44C-4A01-8E89-B93DDAFA247C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4390921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Loddrett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8F292BE4-5758-1632-C76F-28DDB5D0CA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loddrett tekst 2">
            <a:extLst>
              <a:ext uri="{FF2B5EF4-FFF2-40B4-BE49-F238E27FC236}">
                <a16:creationId xmlns:a16="http://schemas.microsoft.com/office/drawing/2014/main" id="{946CEADF-C919-E76E-B9FB-2BE6D71211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62A11AE5-C83D-4AD6-CEE7-C84F8DBC28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F7994A-41AD-4027-8E6D-AD66A7C6695C}" type="datetimeFigureOut">
              <a:rPr lang="nb-NO" smtClean="0"/>
              <a:t>15.03.2026</a:t>
            </a:fld>
            <a:endParaRPr lang="nb-NO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601788E0-0D80-2325-1F81-325AFA761F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1292C17F-A1F8-375C-9385-91A029E4D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FA1624-E44C-4A01-8E89-B93DDAFA247C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3166467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Loddrett tittel og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ddrett tittel 1">
            <a:extLst>
              <a:ext uri="{FF2B5EF4-FFF2-40B4-BE49-F238E27FC236}">
                <a16:creationId xmlns:a16="http://schemas.microsoft.com/office/drawing/2014/main" id="{B7B3CE20-17DA-416C-1AB6-69358041554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loddrett tekst 2">
            <a:extLst>
              <a:ext uri="{FF2B5EF4-FFF2-40B4-BE49-F238E27FC236}">
                <a16:creationId xmlns:a16="http://schemas.microsoft.com/office/drawing/2014/main" id="{DC3A1D0E-2308-7A14-D7C6-7E3F1845D4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3967366B-A06F-D0EF-97CD-0A501C33F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F7994A-41AD-4027-8E6D-AD66A7C6695C}" type="datetimeFigureOut">
              <a:rPr lang="nb-NO" smtClean="0"/>
              <a:t>15.03.2026</a:t>
            </a:fld>
            <a:endParaRPr lang="nb-NO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E0DD5C68-BEBF-B88D-6E31-251D2905E5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85EFAD14-3052-E7C3-B901-C62FFF94E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FA1624-E44C-4A01-8E89-B93DDAFA247C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38513226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tittel 1">
            <a:extLst>
              <a:ext uri="{FF2B5EF4-FFF2-40B4-BE49-F238E27FC236}">
                <a16:creationId xmlns:a16="http://schemas.microsoft.com/office/drawing/2014/main" id="{42CB8687-45E2-AE6A-972E-7068EED41D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tekst 2">
            <a:extLst>
              <a:ext uri="{FF2B5EF4-FFF2-40B4-BE49-F238E27FC236}">
                <a16:creationId xmlns:a16="http://schemas.microsoft.com/office/drawing/2014/main" id="{3AC5EDE2-03BB-E27D-5F96-622EE380EC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7EF3200B-1956-0733-E900-B8717D47DF1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9F7994A-41AD-4027-8E6D-AD66A7C6695C}" type="datetimeFigureOut">
              <a:rPr lang="nb-NO" smtClean="0"/>
              <a:t>15.03.2026</a:t>
            </a:fld>
            <a:endParaRPr lang="nb-NO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9D2ED652-A4EC-E630-0F7D-7F84CB5B4B6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b-NO"/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781F0FA7-5D36-B99F-5933-58E59F0E40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FA1624-E44C-4A01-8E89-B93DDAFA247C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8413045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b-N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Successive-approximation_ADC" TargetMode="External"/><Relationship Id="rId2" Type="http://schemas.openxmlformats.org/officeDocument/2006/relationships/image" Target="../media/image8.gif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F90093E8-0B47-C0DA-EE73-FBF65CE8B3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753141"/>
            <a:ext cx="9144000" cy="1101060"/>
          </a:xfrm>
        </p:spPr>
        <p:txBody>
          <a:bodyPr/>
          <a:lstStyle/>
          <a:p>
            <a:r>
              <a:rPr lang="nb-NO" b="1" dirty="0"/>
              <a:t>AVR-kurs dag to</a:t>
            </a:r>
          </a:p>
        </p:txBody>
      </p:sp>
      <p:sp>
        <p:nvSpPr>
          <p:cNvPr id="3" name="Undertittel 2">
            <a:extLst>
              <a:ext uri="{FF2B5EF4-FFF2-40B4-BE49-F238E27FC236}">
                <a16:creationId xmlns:a16="http://schemas.microsoft.com/office/drawing/2014/main" id="{B6FB23C2-ECF6-587A-5653-3D306E7CE9D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nb-NO" dirty="0"/>
          </a:p>
        </p:txBody>
      </p:sp>
      <p:pic>
        <p:nvPicPr>
          <p:cNvPr id="1026" name="Picture 2" descr="Microchip | IAR">
            <a:extLst>
              <a:ext uri="{FF2B5EF4-FFF2-40B4-BE49-F238E27FC236}">
                <a16:creationId xmlns:a16="http://schemas.microsoft.com/office/drawing/2014/main" id="{3D7B7D23-9DCA-4009-1B2A-32ABDBC654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572" y="4090774"/>
            <a:ext cx="8224929" cy="24065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Bilde 4">
            <a:extLst>
              <a:ext uri="{FF2B5EF4-FFF2-40B4-BE49-F238E27FC236}">
                <a16:creationId xmlns:a16="http://schemas.microsoft.com/office/drawing/2014/main" id="{58B82D83-3BE2-96A2-55D8-90E8866DD2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48929" y="4239397"/>
            <a:ext cx="2036806" cy="2036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67936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26F8EA73-668C-E7D3-34EF-2699384C8D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Dagens plan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50C0C78A-C9F8-14A1-3A15-F0E5CAFBA7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>
              <a:lnSpc>
                <a:spcPct val="150000"/>
              </a:lnSpc>
            </a:pPr>
            <a:r>
              <a:rPr lang="nb-NO" dirty="0" err="1"/>
              <a:t>Interrupts</a:t>
            </a:r>
            <a:endParaRPr lang="nb-NO" dirty="0"/>
          </a:p>
          <a:p>
            <a:pPr>
              <a:lnSpc>
                <a:spcPct val="150000"/>
              </a:lnSpc>
            </a:pPr>
            <a:r>
              <a:rPr lang="nb-NO" dirty="0"/>
              <a:t>Analog til Digital-omformere</a:t>
            </a:r>
          </a:p>
          <a:p>
            <a:pPr>
              <a:lnSpc>
                <a:spcPct val="150000"/>
              </a:lnSpc>
            </a:pPr>
            <a:r>
              <a:rPr lang="nb-NO" dirty="0" err="1"/>
              <a:t>Timere</a:t>
            </a:r>
            <a:r>
              <a:rPr lang="nb-NO" dirty="0"/>
              <a:t>/Tellere</a:t>
            </a:r>
          </a:p>
          <a:p>
            <a:pPr lvl="1">
              <a:lnSpc>
                <a:spcPct val="150000"/>
              </a:lnSpc>
            </a:pPr>
            <a:r>
              <a:rPr lang="nb-NO" dirty="0"/>
              <a:t>Presis kommandoutføring</a:t>
            </a:r>
          </a:p>
          <a:p>
            <a:pPr lvl="1">
              <a:lnSpc>
                <a:spcPct val="150000"/>
              </a:lnSpc>
            </a:pPr>
            <a:r>
              <a:rPr lang="nb-NO" dirty="0"/>
              <a:t>Pulsviddemodulering (PWM)</a:t>
            </a:r>
          </a:p>
          <a:p>
            <a:pPr>
              <a:lnSpc>
                <a:spcPct val="150000"/>
              </a:lnSpc>
            </a:pPr>
            <a:r>
              <a:rPr lang="nb-NO" dirty="0"/>
              <a:t>UART</a:t>
            </a:r>
          </a:p>
          <a:p>
            <a:pPr lvl="1">
              <a:lnSpc>
                <a:spcPct val="150000"/>
              </a:lnSpc>
            </a:pPr>
            <a:r>
              <a:rPr lang="nb-NO" dirty="0"/>
              <a:t>Seriell </a:t>
            </a:r>
            <a:r>
              <a:rPr lang="nb-NO" dirty="0" err="1"/>
              <a:t>debugging</a:t>
            </a:r>
            <a:endParaRPr lang="nb-NO" dirty="0"/>
          </a:p>
          <a:p>
            <a:pPr lvl="1">
              <a:lnSpc>
                <a:spcPct val="200000"/>
              </a:lnSpc>
            </a:pPr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3353285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80A8F851-DE72-2096-9868-52CDCFF2DB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 err="1"/>
              <a:t>Interrupts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1286B691-7FE2-9497-5EA6-A87B413123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b-NO" dirty="0"/>
              <a:t>Signal fra en periferienhet, hendelse</a:t>
            </a:r>
          </a:p>
          <a:p>
            <a:r>
              <a:rPr lang="nb-NO" dirty="0"/>
              <a:t>Høy prioritet, umiddelbar respons</a:t>
            </a:r>
          </a:p>
          <a:p>
            <a:endParaRPr lang="nb-NO" dirty="0"/>
          </a:p>
          <a:p>
            <a:r>
              <a:rPr lang="nb-NO" dirty="0"/>
              <a:t>Eks</a:t>
            </a:r>
          </a:p>
          <a:p>
            <a:pPr lvl="1"/>
            <a:r>
              <a:rPr lang="nb-NO" dirty="0"/>
              <a:t>Sende data når inngang blir høy</a:t>
            </a:r>
          </a:p>
          <a:p>
            <a:pPr lvl="1"/>
            <a:r>
              <a:rPr lang="nb-NO" dirty="0"/>
              <a:t>Lese ADC med jevne mellomrom(timer)</a:t>
            </a:r>
          </a:p>
          <a:p>
            <a:pPr lvl="1"/>
            <a:endParaRPr lang="nb-NO" dirty="0"/>
          </a:p>
          <a:p>
            <a:r>
              <a:rPr lang="nb-NO" dirty="0"/>
              <a:t>Unngår </a:t>
            </a:r>
            <a:r>
              <a:rPr lang="nb-NO" dirty="0" err="1"/>
              <a:t>polling</a:t>
            </a:r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21092894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13725941-D178-F2CB-9AE6-7EF11CFD9A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 err="1"/>
              <a:t>Interrupt</a:t>
            </a:r>
            <a:r>
              <a:rPr lang="nb-NO" dirty="0"/>
              <a:t> vektor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12A960BE-38D1-7A11-FFA9-BD960A042A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b-NO" dirty="0"/>
              <a:t>Hvordan man bestemmer hvilken funksjon som utføres ved hvilken </a:t>
            </a:r>
            <a:r>
              <a:rPr lang="nb-NO" dirty="0" err="1"/>
              <a:t>interrupt</a:t>
            </a:r>
            <a:endParaRPr lang="nb-NO" dirty="0"/>
          </a:p>
          <a:p>
            <a:r>
              <a:rPr lang="nb-NO" dirty="0"/>
              <a:t>Tilsvarer en dedikert adresse i minnet</a:t>
            </a:r>
          </a:p>
          <a:p>
            <a:r>
              <a:rPr lang="nb-NO" i="1" dirty="0" err="1">
                <a:solidFill>
                  <a:schemeClr val="bg1">
                    <a:lumMod val="50000"/>
                  </a:schemeClr>
                </a:solidFill>
              </a:rPr>
              <a:t>Periferienhet</a:t>
            </a:r>
            <a:r>
              <a:rPr lang="nb-NO" i="1" dirty="0" err="1"/>
              <a:t>_</a:t>
            </a:r>
            <a:r>
              <a:rPr lang="nb-NO" i="1" dirty="0" err="1">
                <a:solidFill>
                  <a:schemeClr val="bg1">
                    <a:lumMod val="50000"/>
                  </a:schemeClr>
                </a:solidFill>
              </a:rPr>
              <a:t>vektornavn</a:t>
            </a:r>
            <a:r>
              <a:rPr lang="nb-NO" i="1" dirty="0" err="1"/>
              <a:t>_</a:t>
            </a:r>
            <a:r>
              <a:rPr lang="nb-NO" dirty="0" err="1"/>
              <a:t>vect</a:t>
            </a:r>
            <a:endParaRPr lang="nb-NO" dirty="0"/>
          </a:p>
          <a:p>
            <a:r>
              <a:rPr lang="nb-NO" dirty="0"/>
              <a:t>Vektornavn finnes i beskrivelsen for hver </a:t>
            </a:r>
            <a:br>
              <a:rPr lang="nb-NO" dirty="0"/>
            </a:br>
            <a:r>
              <a:rPr lang="nb-NO" dirty="0"/>
              <a:t>periferienhet</a:t>
            </a:r>
          </a:p>
          <a:p>
            <a:pPr marL="0" indent="0">
              <a:buNone/>
            </a:pPr>
            <a:endParaRPr lang="nb-NO" dirty="0"/>
          </a:p>
          <a:p>
            <a:r>
              <a:rPr lang="nb-NO" dirty="0"/>
              <a:t>Funksjoner bør være korte, «flagg» kan vurderes</a:t>
            </a:r>
          </a:p>
        </p:txBody>
      </p:sp>
    </p:spTree>
    <p:extLst>
      <p:ext uri="{BB962C8B-B14F-4D97-AF65-F5344CB8AC3E}">
        <p14:creationId xmlns:p14="http://schemas.microsoft.com/office/powerpoint/2010/main" val="7367544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89E49625-2BD4-EF7C-25A6-43EEDDBE74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 err="1"/>
              <a:t>Interrupt</a:t>
            </a:r>
            <a:r>
              <a:rPr lang="nb-NO" dirty="0"/>
              <a:t> vektor – Eksempel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6B72835-6CD2-245E-8B36-0123C3B5BF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b-NO" dirty="0"/>
              <a:t>OVF – </a:t>
            </a:r>
            <a:r>
              <a:rPr lang="nb-NO" dirty="0" err="1"/>
              <a:t>Overflow</a:t>
            </a:r>
            <a:r>
              <a:rPr lang="nb-NO" dirty="0"/>
              <a:t> i TCA0 periferienheten</a:t>
            </a:r>
            <a:br>
              <a:rPr lang="nb-NO" dirty="0"/>
            </a:br>
            <a:endParaRPr lang="nb-NO" dirty="0"/>
          </a:p>
          <a:p>
            <a:endParaRPr lang="nb-NO" dirty="0"/>
          </a:p>
          <a:p>
            <a:endParaRPr lang="nb-NO" dirty="0"/>
          </a:p>
          <a:p>
            <a:endParaRPr lang="nb-NO" dirty="0"/>
          </a:p>
          <a:p>
            <a:pPr marL="0" indent="0">
              <a:buNone/>
            </a:pPr>
            <a:endParaRPr lang="nb-NO" dirty="0"/>
          </a:p>
        </p:txBody>
      </p:sp>
      <p:pic>
        <p:nvPicPr>
          <p:cNvPr id="5" name="Bilde 4">
            <a:extLst>
              <a:ext uri="{FF2B5EF4-FFF2-40B4-BE49-F238E27FC236}">
                <a16:creationId xmlns:a16="http://schemas.microsoft.com/office/drawing/2014/main" id="{8B62ABFA-0191-C477-7E00-6328B5501D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2261" y="2766636"/>
            <a:ext cx="4315427" cy="3067478"/>
          </a:xfrm>
          <a:prstGeom prst="rect">
            <a:avLst/>
          </a:prstGeom>
        </p:spPr>
      </p:pic>
      <p:pic>
        <p:nvPicPr>
          <p:cNvPr id="6" name="Bilde 5">
            <a:extLst>
              <a:ext uri="{FF2B5EF4-FFF2-40B4-BE49-F238E27FC236}">
                <a16:creationId xmlns:a16="http://schemas.microsoft.com/office/drawing/2014/main" id="{CDE06E3C-D854-6EF1-C1F5-6497903DC5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796226"/>
            <a:ext cx="5486285" cy="25919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80927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3664EA40-F741-111E-EAE3-7DB9429751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Aktivering - MCC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29E16FA4-A92A-1403-0AE0-62FD8DEFD1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b-NO"/>
          </a:p>
        </p:txBody>
      </p:sp>
      <p:pic>
        <p:nvPicPr>
          <p:cNvPr id="5" name="Bilde 4">
            <a:extLst>
              <a:ext uri="{FF2B5EF4-FFF2-40B4-BE49-F238E27FC236}">
                <a16:creationId xmlns:a16="http://schemas.microsoft.com/office/drawing/2014/main" id="{467D6B66-1C01-E0A0-794F-7226B367B3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825625"/>
            <a:ext cx="10515600" cy="41571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67508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3DF05A55-F86E-AE5F-B667-5160AEAD86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Aktivering - Kode</a:t>
            </a:r>
          </a:p>
        </p:txBody>
      </p:sp>
      <p:pic>
        <p:nvPicPr>
          <p:cNvPr id="5" name="Plassholder for innhold 4">
            <a:extLst>
              <a:ext uri="{FF2B5EF4-FFF2-40B4-BE49-F238E27FC236}">
                <a16:creationId xmlns:a16="http://schemas.microsoft.com/office/drawing/2014/main" id="{6F33DD66-49D7-0D89-2766-20D4ABEC1C2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99880" y="1796689"/>
            <a:ext cx="8061300" cy="42796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81316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A3F42A14-5A1D-2B2F-9B62-21091DF636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Analog til Digital omformer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14267687-8471-6F56-F665-1D7F7073ED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0025"/>
            <a:ext cx="10515600" cy="4351338"/>
          </a:xfrm>
        </p:spPr>
        <p:txBody>
          <a:bodyPr/>
          <a:lstStyle/>
          <a:p>
            <a:pPr>
              <a:lnSpc>
                <a:spcPts val="4200"/>
              </a:lnSpc>
            </a:pPr>
            <a:r>
              <a:rPr lang="nb-NO" dirty="0"/>
              <a:t>Måler spenning på en Input-pinne</a:t>
            </a:r>
          </a:p>
          <a:p>
            <a:pPr>
              <a:lnSpc>
                <a:spcPts val="4200"/>
              </a:lnSpc>
            </a:pPr>
            <a:r>
              <a:rPr lang="nb-NO" dirty="0"/>
              <a:t>12-bits oppløsning – 1.2mV presisjon 0-5V</a:t>
            </a:r>
          </a:p>
          <a:p>
            <a:pPr>
              <a:lnSpc>
                <a:spcPts val="4200"/>
              </a:lnSpc>
            </a:pPr>
            <a:r>
              <a:rPr lang="nb-NO" dirty="0"/>
              <a:t>Måler i forhold til justerbar VREF</a:t>
            </a:r>
          </a:p>
          <a:p>
            <a:pPr>
              <a:lnSpc>
                <a:spcPts val="4200"/>
              </a:lnSpc>
            </a:pPr>
            <a:r>
              <a:rPr lang="nb-NO" dirty="0"/>
              <a:t>Kan gi </a:t>
            </a:r>
            <a:r>
              <a:rPr lang="nb-NO" dirty="0" err="1"/>
              <a:t>interrupt</a:t>
            </a:r>
            <a:r>
              <a:rPr lang="nb-NO" dirty="0"/>
              <a:t> når den har målt ferdig</a:t>
            </a:r>
          </a:p>
          <a:p>
            <a:pPr lvl="1">
              <a:lnSpc>
                <a:spcPts val="4200"/>
              </a:lnSpc>
            </a:pPr>
            <a:r>
              <a:rPr lang="nb-NO" dirty="0"/>
              <a:t>Også om målingen er over/under/mellom referanseverdier</a:t>
            </a:r>
          </a:p>
          <a:p>
            <a:pPr>
              <a:lnSpc>
                <a:spcPts val="4200"/>
              </a:lnSpc>
            </a:pPr>
            <a:endParaRPr lang="nb-NO" dirty="0"/>
          </a:p>
        </p:txBody>
      </p:sp>
      <p:pic>
        <p:nvPicPr>
          <p:cNvPr id="7" name="Bilde 6">
            <a:extLst>
              <a:ext uri="{FF2B5EF4-FFF2-40B4-BE49-F238E27FC236}">
                <a16:creationId xmlns:a16="http://schemas.microsoft.com/office/drawing/2014/main" id="{5D21904E-8171-77E5-7F03-D60ED5DB90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2935" y="4480078"/>
            <a:ext cx="8220778" cy="2682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51348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454B47F0-0A6E-C15C-A97D-CB63FAFD3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Virkemåte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34B09470-779E-C63D-ADDE-B2C92CEC69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b-NO" dirty="0" err="1"/>
              <a:t>Successive</a:t>
            </a:r>
            <a:r>
              <a:rPr lang="nb-NO" dirty="0"/>
              <a:t> </a:t>
            </a:r>
            <a:r>
              <a:rPr lang="nb-NO" dirty="0" err="1"/>
              <a:t>approximation</a:t>
            </a:r>
            <a:br>
              <a:rPr lang="nb-NO" dirty="0"/>
            </a:br>
            <a:r>
              <a:rPr lang="nb-NO" dirty="0"/>
              <a:t>(SAR)</a:t>
            </a:r>
          </a:p>
          <a:p>
            <a:r>
              <a:rPr lang="nb-NO" dirty="0"/>
              <a:t>Bruker en DAC for å tilnærme</a:t>
            </a:r>
            <a:br>
              <a:rPr lang="nb-NO" dirty="0"/>
            </a:br>
            <a:r>
              <a:rPr lang="nb-NO" dirty="0"/>
              <a:t>seg verdien i mindre steg</a:t>
            </a:r>
          </a:p>
          <a:p>
            <a:pPr marL="0" indent="0">
              <a:buNone/>
            </a:pPr>
            <a:endParaRPr lang="nb-NO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DCEADE59-FD6F-4D3A-883B-16A06F5796E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334"/>
          <a:stretch>
            <a:fillRect/>
          </a:stretch>
        </p:blipFill>
        <p:spPr bwMode="auto">
          <a:xfrm>
            <a:off x="5643721" y="1690688"/>
            <a:ext cx="6202839" cy="42486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kstSylinder 3">
            <a:extLst>
              <a:ext uri="{FF2B5EF4-FFF2-40B4-BE49-F238E27FC236}">
                <a16:creationId xmlns:a16="http://schemas.microsoft.com/office/drawing/2014/main" id="{410B0CC8-2A18-5047-D6F6-132BB837A8FF}"/>
              </a:ext>
            </a:extLst>
          </p:cNvPr>
          <p:cNvSpPr txBox="1"/>
          <p:nvPr/>
        </p:nvSpPr>
        <p:spPr>
          <a:xfrm>
            <a:off x="4033520" y="6211669"/>
            <a:ext cx="82651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b-NO" dirty="0"/>
              <a:t>Animasjon av </a:t>
            </a:r>
            <a:r>
              <a:rPr lang="nb-NO" dirty="0" err="1"/>
              <a:t>Uwezi</a:t>
            </a:r>
            <a:r>
              <a:rPr lang="nb-NO" dirty="0"/>
              <a:t>, </a:t>
            </a:r>
          </a:p>
          <a:p>
            <a:r>
              <a:rPr lang="nb-NO" dirty="0">
                <a:hlinkClick r:id="rId3"/>
              </a:rPr>
              <a:t>https://en.wikipedia.org/wiki/Successive-approximation_ADC</a:t>
            </a:r>
            <a:r>
              <a:rPr lang="nb-NO" dirty="0"/>
              <a:t> (hentet 13.03.2026)</a:t>
            </a:r>
          </a:p>
        </p:txBody>
      </p:sp>
    </p:spTree>
    <p:extLst>
      <p:ext uri="{BB962C8B-B14F-4D97-AF65-F5344CB8AC3E}">
        <p14:creationId xmlns:p14="http://schemas.microsoft.com/office/powerpoint/2010/main" val="11713148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6287AB4D-FBC1-DE6B-F806-E6B2EC6AAF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Konfigurering - MCC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52BBE370-2AFA-931B-E991-D2534F9AA9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b-NO" dirty="0"/>
              <a:t>Legg til ADC som komponent</a:t>
            </a:r>
          </a:p>
        </p:txBody>
      </p:sp>
      <p:pic>
        <p:nvPicPr>
          <p:cNvPr id="5" name="Bilde 4">
            <a:extLst>
              <a:ext uri="{FF2B5EF4-FFF2-40B4-BE49-F238E27FC236}">
                <a16:creationId xmlns:a16="http://schemas.microsoft.com/office/drawing/2014/main" id="{E4A6B338-0160-ABCB-2C33-D032A4DDE7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" y="4922280"/>
            <a:ext cx="9929720" cy="1905165"/>
          </a:xfrm>
          <a:prstGeom prst="rect">
            <a:avLst/>
          </a:prstGeom>
        </p:spPr>
      </p:pic>
      <p:pic>
        <p:nvPicPr>
          <p:cNvPr id="7" name="Bilde 6">
            <a:extLst>
              <a:ext uri="{FF2B5EF4-FFF2-40B4-BE49-F238E27FC236}">
                <a16:creationId xmlns:a16="http://schemas.microsoft.com/office/drawing/2014/main" id="{BB5C1C8B-1D78-0384-5D81-8A619E87EC6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9600" b="25299"/>
          <a:stretch>
            <a:fillRect/>
          </a:stretch>
        </p:blipFill>
        <p:spPr>
          <a:xfrm>
            <a:off x="6096000" y="1027906"/>
            <a:ext cx="5546488" cy="34042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38492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60C033-4B7D-CCB9-ED1F-71F8B45A86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C5BB657C-7FBD-1825-DC94-DE23A600C3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Konfigurering - MCC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7B8D1AA8-629E-92F0-3AA8-2F8DFE642D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b-NO" dirty="0"/>
              <a:t>Velg oppløsning og inngang</a:t>
            </a:r>
          </a:p>
          <a:p>
            <a:pPr lvl="1"/>
            <a:r>
              <a:rPr lang="nb-NO" dirty="0"/>
              <a:t>Hvilken digitalpinne hver Ain er koblet </a:t>
            </a:r>
            <a:br>
              <a:rPr lang="nb-NO" dirty="0"/>
            </a:br>
            <a:r>
              <a:rPr lang="nb-NO" dirty="0"/>
              <a:t>til dukker opp nederst på</a:t>
            </a:r>
            <a:br>
              <a:rPr lang="nb-NO" dirty="0"/>
            </a:br>
            <a:r>
              <a:rPr lang="nb-NO" dirty="0"/>
              <a:t>skjermen, og finnes i databladet</a:t>
            </a:r>
          </a:p>
        </p:txBody>
      </p:sp>
      <p:pic>
        <p:nvPicPr>
          <p:cNvPr id="6" name="Bilde 5">
            <a:extLst>
              <a:ext uri="{FF2B5EF4-FFF2-40B4-BE49-F238E27FC236}">
                <a16:creationId xmlns:a16="http://schemas.microsoft.com/office/drawing/2014/main" id="{B475FD3D-1455-88EB-7F38-060DD21D70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4379" y="1163116"/>
            <a:ext cx="3939881" cy="46943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40638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3F7479-F08D-B5AB-F4F0-3F8963131D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DA9D1584-296F-B440-5134-5561015725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Konfigurering - MCC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E62DDAA7-5A04-94BE-3056-0C4CD59D5A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b-NO" dirty="0" err="1"/>
              <a:t>Interrupts</a:t>
            </a:r>
            <a:r>
              <a:rPr lang="nb-NO" dirty="0"/>
              <a:t> og grenseverdier</a:t>
            </a:r>
          </a:p>
          <a:p>
            <a:pPr lvl="1">
              <a:lnSpc>
                <a:spcPct val="150000"/>
              </a:lnSpc>
            </a:pPr>
            <a:r>
              <a:rPr lang="nb-NO" dirty="0"/>
              <a:t>Over nedre grenseverdi</a:t>
            </a:r>
          </a:p>
          <a:p>
            <a:pPr lvl="1">
              <a:lnSpc>
                <a:spcPct val="150000"/>
              </a:lnSpc>
            </a:pPr>
            <a:r>
              <a:rPr lang="nb-NO" dirty="0"/>
              <a:t>Under øvre grenseverdi</a:t>
            </a:r>
          </a:p>
          <a:p>
            <a:pPr lvl="1">
              <a:lnSpc>
                <a:spcPct val="150000"/>
              </a:lnSpc>
            </a:pPr>
            <a:r>
              <a:rPr lang="nb-NO" dirty="0"/>
              <a:t>Mellom grenseverdiene</a:t>
            </a:r>
          </a:p>
          <a:p>
            <a:pPr lvl="1">
              <a:lnSpc>
                <a:spcPct val="100000"/>
              </a:lnSpc>
            </a:pPr>
            <a:r>
              <a:rPr lang="nb-NO" dirty="0"/>
              <a:t>Større enn øvre eller</a:t>
            </a:r>
            <a:br>
              <a:rPr lang="nb-NO" dirty="0"/>
            </a:br>
            <a:r>
              <a:rPr lang="nb-NO" dirty="0"/>
              <a:t>mindre enn </a:t>
            </a:r>
            <a:r>
              <a:rPr lang="nb-NO" dirty="0" err="1"/>
              <a:t>lavre</a:t>
            </a:r>
            <a:r>
              <a:rPr lang="nb-NO" dirty="0"/>
              <a:t> grenseverdi</a:t>
            </a:r>
          </a:p>
        </p:txBody>
      </p:sp>
      <p:pic>
        <p:nvPicPr>
          <p:cNvPr id="5" name="Bilde 4">
            <a:extLst>
              <a:ext uri="{FF2B5EF4-FFF2-40B4-BE49-F238E27FC236}">
                <a16:creationId xmlns:a16="http://schemas.microsoft.com/office/drawing/2014/main" id="{3101A4BC-9E40-8E6C-55C6-D10DA7CBA8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8946" y="1825625"/>
            <a:ext cx="6156960" cy="424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83446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99A730-BB7E-0E52-66D1-C63F5B62D5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C289A77D-4D80-C8C4-0817-0EDADFA112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Konfigurering - MCC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D4ECD499-AA24-6144-276C-E4AA48287E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b-NO" dirty="0"/>
              <a:t>Sette </a:t>
            </a:r>
            <a:r>
              <a:rPr lang="nb-NO" dirty="0" err="1"/>
              <a:t>prescaler</a:t>
            </a:r>
            <a:endParaRPr lang="nb-NO" dirty="0"/>
          </a:p>
          <a:p>
            <a:pPr lvl="1"/>
            <a:r>
              <a:rPr lang="nb-NO" dirty="0"/>
              <a:t>Justerer hvor raskt </a:t>
            </a:r>
            <a:br>
              <a:rPr lang="nb-NO" dirty="0"/>
            </a:br>
            <a:r>
              <a:rPr lang="nb-NO" dirty="0"/>
              <a:t>målingen utføres</a:t>
            </a:r>
          </a:p>
        </p:txBody>
      </p:sp>
      <p:pic>
        <p:nvPicPr>
          <p:cNvPr id="6" name="Bilde 5">
            <a:extLst>
              <a:ext uri="{FF2B5EF4-FFF2-40B4-BE49-F238E27FC236}">
                <a16:creationId xmlns:a16="http://schemas.microsoft.com/office/drawing/2014/main" id="{D5706FEF-289D-0CF4-7D05-342019329C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3991" y="1825625"/>
            <a:ext cx="6632616" cy="31738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56570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E3CC2766-9F34-9AE6-7CF7-9524B9CDC5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Kode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299A0F9-3095-6AB3-BFBE-EF55139112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b-NO" dirty="0"/>
              <a:t>MCC genererte funksjoner</a:t>
            </a:r>
          </a:p>
        </p:txBody>
      </p:sp>
      <p:pic>
        <p:nvPicPr>
          <p:cNvPr id="5" name="Bilde 4">
            <a:extLst>
              <a:ext uri="{FF2B5EF4-FFF2-40B4-BE49-F238E27FC236}">
                <a16:creationId xmlns:a16="http://schemas.microsoft.com/office/drawing/2014/main" id="{D83505C7-A04A-3A53-B569-2EFC0CA1EE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2676" y="2772397"/>
            <a:ext cx="10726647" cy="2457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2268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56A8F48D-AD2E-A23C-9842-E1B1A67318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Teller/Timer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F1B411D0-E0DC-AE1E-03C1-ADC3D113BC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b-NO" dirty="0"/>
              <a:t>Tre typer</a:t>
            </a:r>
          </a:p>
          <a:p>
            <a:r>
              <a:rPr lang="nb-NO" dirty="0"/>
              <a:t>Vi fokuserer på type A (TCA0 og TCA1)</a:t>
            </a:r>
          </a:p>
          <a:p>
            <a:r>
              <a:rPr lang="nb-NO" dirty="0"/>
              <a:t>16-biters register</a:t>
            </a:r>
          </a:p>
          <a:p>
            <a:pPr lvl="1"/>
            <a:r>
              <a:rPr lang="nb-NO" dirty="0"/>
              <a:t>Kan deles i to 8-bit tellere</a:t>
            </a:r>
          </a:p>
          <a:p>
            <a:r>
              <a:rPr lang="nb-NO" dirty="0"/>
              <a:t>Verdien økes med 1 ved gitte</a:t>
            </a:r>
            <a:br>
              <a:rPr lang="nb-NO" dirty="0"/>
            </a:br>
            <a:r>
              <a:rPr lang="nb-NO" dirty="0"/>
              <a:t>tilfeller </a:t>
            </a:r>
          </a:p>
          <a:p>
            <a:r>
              <a:rPr lang="nb-NO" dirty="0"/>
              <a:t>Tellerverdien kan leses av manuelt, eller automatikk kan gjennomføres når den når visse verdier</a:t>
            </a:r>
          </a:p>
        </p:txBody>
      </p:sp>
      <p:grpSp>
        <p:nvGrpSpPr>
          <p:cNvPr id="8" name="Gruppe 7">
            <a:extLst>
              <a:ext uri="{FF2B5EF4-FFF2-40B4-BE49-F238E27FC236}">
                <a16:creationId xmlns:a16="http://schemas.microsoft.com/office/drawing/2014/main" id="{4FA3E974-BCE0-8812-4B00-07F0EE4846D5}"/>
              </a:ext>
            </a:extLst>
          </p:cNvPr>
          <p:cNvGrpSpPr/>
          <p:nvPr/>
        </p:nvGrpSpPr>
        <p:grpSpPr>
          <a:xfrm>
            <a:off x="5647600" y="2853932"/>
            <a:ext cx="6308426" cy="1390157"/>
            <a:chOff x="5491868" y="2409683"/>
            <a:chExt cx="4625587" cy="1019318"/>
          </a:xfrm>
        </p:grpSpPr>
        <p:pic>
          <p:nvPicPr>
            <p:cNvPr id="5" name="Bilde 4">
              <a:extLst>
                <a:ext uri="{FF2B5EF4-FFF2-40B4-BE49-F238E27FC236}">
                  <a16:creationId xmlns:a16="http://schemas.microsoft.com/office/drawing/2014/main" id="{C7DEC46B-4835-4C82-E651-769E0045AB8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491868" y="2409683"/>
              <a:ext cx="3096057" cy="1019317"/>
            </a:xfrm>
            <a:prstGeom prst="rect">
              <a:avLst/>
            </a:prstGeom>
          </p:spPr>
        </p:pic>
        <p:pic>
          <p:nvPicPr>
            <p:cNvPr id="7" name="Bilde 6">
              <a:extLst>
                <a:ext uri="{FF2B5EF4-FFF2-40B4-BE49-F238E27FC236}">
                  <a16:creationId xmlns:a16="http://schemas.microsoft.com/office/drawing/2014/main" id="{B9EDD20D-FAC4-93DC-567C-8ED6B01EFC5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1647" b="492"/>
            <a:stretch>
              <a:fillRect/>
            </a:stretch>
          </p:blipFill>
          <p:spPr>
            <a:xfrm>
              <a:off x="8587925" y="2409683"/>
              <a:ext cx="1529530" cy="101931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732546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166B4FD7-2B0F-EF85-8C22-D719CF0B97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Teller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C659E690-B089-6306-B129-9385C388F6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b-NO" dirty="0"/>
              <a:t>Betegnes som regel når registeret øker verdi ved gitte hendelser</a:t>
            </a:r>
          </a:p>
          <a:p>
            <a:r>
              <a:rPr lang="nb-NO" dirty="0"/>
              <a:t>Konfigureres gjennom </a:t>
            </a:r>
            <a:r>
              <a:rPr lang="nb-NO" dirty="0" err="1"/>
              <a:t>eventsystem</a:t>
            </a:r>
            <a:endParaRPr lang="nb-NO" dirty="0"/>
          </a:p>
          <a:p>
            <a:endParaRPr lang="nb-NO" dirty="0"/>
          </a:p>
          <a:p>
            <a:r>
              <a:rPr lang="nb-NO" dirty="0"/>
              <a:t>Eks. </a:t>
            </a:r>
          </a:p>
          <a:p>
            <a:pPr lvl="1"/>
            <a:r>
              <a:rPr lang="nb-NO" dirty="0"/>
              <a:t>Tell antall knappetrykk og utfør kommando etter 20 trykk</a:t>
            </a:r>
          </a:p>
        </p:txBody>
      </p:sp>
    </p:spTree>
    <p:extLst>
      <p:ext uri="{BB962C8B-B14F-4D97-AF65-F5344CB8AC3E}">
        <p14:creationId xmlns:p14="http://schemas.microsoft.com/office/powerpoint/2010/main" val="9608846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1D94A9E1-E6D9-1388-EE9E-B3052F5797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Timer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ED7B5FE9-127F-6C1B-B4CA-508C3446EC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nb-NO" dirty="0"/>
              <a:t>Teller per </a:t>
            </a:r>
            <a:r>
              <a:rPr lang="nb-NO" i="1" dirty="0"/>
              <a:t>n</a:t>
            </a:r>
            <a:r>
              <a:rPr lang="nb-NO" dirty="0"/>
              <a:t> klokkeslag</a:t>
            </a:r>
          </a:p>
          <a:p>
            <a:pPr>
              <a:lnSpc>
                <a:spcPct val="150000"/>
              </a:lnSpc>
            </a:pPr>
            <a:r>
              <a:rPr lang="nb-NO" dirty="0"/>
              <a:t>Egen klokke, skjer automatisk</a:t>
            </a:r>
          </a:p>
          <a:p>
            <a:pPr>
              <a:lnSpc>
                <a:spcPct val="150000"/>
              </a:lnSpc>
            </a:pPr>
            <a:r>
              <a:rPr lang="nb-NO" dirty="0"/>
              <a:t>Perioden settes i </a:t>
            </a:r>
            <a:r>
              <a:rPr lang="nb-NO" dirty="0" err="1"/>
              <a:t>TCAn.PER</a:t>
            </a:r>
            <a:r>
              <a:rPr lang="nb-NO" dirty="0"/>
              <a:t>-register</a:t>
            </a:r>
          </a:p>
          <a:p>
            <a:pPr lvl="1">
              <a:lnSpc>
                <a:spcPct val="150000"/>
              </a:lnSpc>
            </a:pPr>
            <a:r>
              <a:rPr lang="nb-NO" dirty="0" err="1"/>
              <a:t>Overflow</a:t>
            </a:r>
            <a:r>
              <a:rPr lang="nb-NO" dirty="0"/>
              <a:t>-vektor</a:t>
            </a:r>
          </a:p>
        </p:txBody>
      </p:sp>
      <p:pic>
        <p:nvPicPr>
          <p:cNvPr id="5" name="Bilde 4">
            <a:extLst>
              <a:ext uri="{FF2B5EF4-FFF2-40B4-BE49-F238E27FC236}">
                <a16:creationId xmlns:a16="http://schemas.microsoft.com/office/drawing/2014/main" id="{64AD719D-FA67-8E85-B1F7-6890731244A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561" b="5412"/>
          <a:stretch>
            <a:fillRect/>
          </a:stretch>
        </p:blipFill>
        <p:spPr>
          <a:xfrm>
            <a:off x="6646607" y="3248178"/>
            <a:ext cx="4471219" cy="2749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75426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AFE61F01-F3B9-E489-C152-EC87895E6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Timer – </a:t>
            </a:r>
            <a:r>
              <a:rPr lang="nb-NO" dirty="0" err="1"/>
              <a:t>Prescaler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F0EDD46-31C5-A483-9333-A2ADF625D8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51074" y="1690688"/>
            <a:ext cx="10515600" cy="4351338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nb-NO" dirty="0" err="1"/>
              <a:t>Timeren</a:t>
            </a:r>
            <a:r>
              <a:rPr lang="nb-NO" dirty="0"/>
              <a:t> teller opp per </a:t>
            </a:r>
            <a:r>
              <a:rPr lang="nb-NO" i="1"/>
              <a:t>n </a:t>
            </a:r>
            <a:r>
              <a:rPr lang="nb-NO"/>
              <a:t>klokkeslag</a:t>
            </a:r>
            <a:endParaRPr lang="nb-NO" dirty="0"/>
          </a:p>
          <a:p>
            <a:pPr>
              <a:lnSpc>
                <a:spcPct val="150000"/>
              </a:lnSpc>
            </a:pPr>
            <a:r>
              <a:rPr lang="nb-NO" dirty="0"/>
              <a:t>Lengre periode, lavere oppløsning</a:t>
            </a:r>
          </a:p>
          <a:p>
            <a:pPr>
              <a:lnSpc>
                <a:spcPct val="150000"/>
              </a:lnSpc>
            </a:pPr>
            <a:r>
              <a:rPr lang="nb-NO" dirty="0"/>
              <a:t>Flere </a:t>
            </a:r>
            <a:r>
              <a:rPr lang="nb-NO" dirty="0" err="1"/>
              <a:t>interrupts</a:t>
            </a:r>
            <a:r>
              <a:rPr lang="nb-NO" dirty="0"/>
              <a:t>, presis utføring av </a:t>
            </a:r>
            <a:br>
              <a:rPr lang="nb-NO" dirty="0"/>
            </a:br>
            <a:r>
              <a:rPr lang="nb-NO" dirty="0"/>
              <a:t>kommandoer</a:t>
            </a:r>
          </a:p>
          <a:p>
            <a:pPr>
              <a:lnSpc>
                <a:spcPct val="150000"/>
              </a:lnSpc>
            </a:pPr>
            <a:endParaRPr lang="nb-NO" dirty="0"/>
          </a:p>
        </p:txBody>
      </p:sp>
      <p:pic>
        <p:nvPicPr>
          <p:cNvPr id="5" name="Bilde 4">
            <a:extLst>
              <a:ext uri="{FF2B5EF4-FFF2-40B4-BE49-F238E27FC236}">
                <a16:creationId xmlns:a16="http://schemas.microsoft.com/office/drawing/2014/main" id="{90EFDC00-2492-CBB8-A819-FD4C2DFD45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434" y="1638250"/>
            <a:ext cx="5838254" cy="3581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79753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D98906C0-2F7C-0A51-A561-A5AA0D9E0C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PWM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D18FF9DF-2D0E-764E-13FB-4B2CEF6D45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34276585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89114275-8F53-5A5B-0B26-723B5F426A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USART/UART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3D304FCB-FCE3-5BD9-D7F2-4E5117B937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b-NO" dirty="0"/>
              <a:t>Universal (</a:t>
            </a:r>
            <a:r>
              <a:rPr lang="nb-NO" dirty="0" err="1"/>
              <a:t>Synchronous</a:t>
            </a:r>
            <a:r>
              <a:rPr lang="nb-NO" dirty="0"/>
              <a:t>/)</a:t>
            </a:r>
            <a:r>
              <a:rPr lang="nb-NO" dirty="0" err="1"/>
              <a:t>Asynchronous</a:t>
            </a:r>
            <a:r>
              <a:rPr lang="nb-NO" dirty="0"/>
              <a:t> </a:t>
            </a:r>
            <a:r>
              <a:rPr lang="nb-NO" dirty="0" err="1"/>
              <a:t>Reciever</a:t>
            </a:r>
            <a:r>
              <a:rPr lang="nb-NO" dirty="0"/>
              <a:t>-Transmitter</a:t>
            </a:r>
          </a:p>
          <a:p>
            <a:r>
              <a:rPr lang="nb-NO" dirty="0"/>
              <a:t>Seriell kommunikasjonsprotokoll</a:t>
            </a:r>
          </a:p>
          <a:p>
            <a:r>
              <a:rPr lang="nb-NO" dirty="0"/>
              <a:t>Rx og </a:t>
            </a:r>
            <a:r>
              <a:rPr lang="nb-NO" dirty="0" err="1"/>
              <a:t>Tx</a:t>
            </a:r>
            <a:r>
              <a:rPr lang="nb-NO" dirty="0"/>
              <a:t> (Full Duplex) eller én leder(Halv Duplex)</a:t>
            </a:r>
          </a:p>
          <a:p>
            <a:r>
              <a:rPr lang="nb-NO" dirty="0"/>
              <a:t>Forhåndsgitt baud</a:t>
            </a:r>
          </a:p>
          <a:p>
            <a:pPr lvl="1"/>
            <a:r>
              <a:rPr lang="nb-NO" dirty="0"/>
              <a:t>Baud = bits/sekund</a:t>
            </a:r>
          </a:p>
          <a:p>
            <a:pPr lvl="1"/>
            <a:endParaRPr lang="nb-NO" dirty="0"/>
          </a:p>
          <a:p>
            <a:r>
              <a:rPr lang="nb-NO"/>
              <a:t>Sende informasjon til </a:t>
            </a:r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9793115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458</TotalTime>
  <Words>418</Words>
  <Application>Microsoft Office PowerPoint</Application>
  <PresentationFormat>Widescreen</PresentationFormat>
  <Paragraphs>91</Paragraphs>
  <Slides>20</Slides>
  <Notes>1</Notes>
  <HiddenSlides>0</HiddenSlides>
  <MMClips>0</MMClips>
  <ScaleCrop>false</ScaleCrop>
  <HeadingPairs>
    <vt:vector size="6" baseType="variant">
      <vt:variant>
        <vt:lpstr>Brukte skrifter</vt:lpstr>
      </vt:variant>
      <vt:variant>
        <vt:i4>3</vt:i4>
      </vt:variant>
      <vt:variant>
        <vt:lpstr>Tema</vt:lpstr>
      </vt:variant>
      <vt:variant>
        <vt:i4>1</vt:i4>
      </vt:variant>
      <vt:variant>
        <vt:lpstr>Lysbildetitler</vt:lpstr>
      </vt:variant>
      <vt:variant>
        <vt:i4>20</vt:i4>
      </vt:variant>
    </vt:vector>
  </HeadingPairs>
  <TitlesOfParts>
    <vt:vector size="24" baseType="lpstr">
      <vt:lpstr>Aptos</vt:lpstr>
      <vt:lpstr>Aptos Display</vt:lpstr>
      <vt:lpstr>Arial</vt:lpstr>
      <vt:lpstr>Office-tema</vt:lpstr>
      <vt:lpstr>AVR-kurs dag to</vt:lpstr>
      <vt:lpstr>Dagens plan</vt:lpstr>
      <vt:lpstr>Interrupts</vt:lpstr>
      <vt:lpstr>Interrupt vektor</vt:lpstr>
      <vt:lpstr>Interrupt vektor – Eksempel</vt:lpstr>
      <vt:lpstr>Aktivering - MCC</vt:lpstr>
      <vt:lpstr>Aktivering - Kode</vt:lpstr>
      <vt:lpstr>Analog til Digital omformer</vt:lpstr>
      <vt:lpstr>Virkemåte</vt:lpstr>
      <vt:lpstr>Konfigurering - MCC</vt:lpstr>
      <vt:lpstr>Konfigurering - MCC</vt:lpstr>
      <vt:lpstr>Konfigurering - MCC</vt:lpstr>
      <vt:lpstr>Konfigurering - MCC</vt:lpstr>
      <vt:lpstr>Kode</vt:lpstr>
      <vt:lpstr>Teller/Timer</vt:lpstr>
      <vt:lpstr>Teller</vt:lpstr>
      <vt:lpstr>Timer</vt:lpstr>
      <vt:lpstr>Timer – Prescaler</vt:lpstr>
      <vt:lpstr>PWM</vt:lpstr>
      <vt:lpstr>USART/UART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Torbjørn Gorsetbakk</dc:creator>
  <cp:lastModifiedBy>Torbjørn Gorsetbakk</cp:lastModifiedBy>
  <cp:revision>18</cp:revision>
  <dcterms:created xsi:type="dcterms:W3CDTF">2026-03-13T10:10:09Z</dcterms:created>
  <dcterms:modified xsi:type="dcterms:W3CDTF">2026-03-15T16:36:40Z</dcterms:modified>
</cp:coreProperties>
</file>
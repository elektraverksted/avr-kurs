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58" r:id="rId12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tellys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6509A03-9F0A-E72C-2C62-709941A0E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75743787-8E22-F1E5-D4AC-1BDA83684A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b-NO"/>
              <a:t>Klikk for å redigere undertittelstil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E871C1C2-BB33-7ED7-A39F-429E23F82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AABC220-53F8-9686-70F0-14368B303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9D16290-A80F-ECC0-D96F-22A0AF3BB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5612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8FF637A-1229-28F9-32A2-D1722ED86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351EA68F-7D4A-7D84-1D27-C1B802286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A2AD12D-4456-E55F-AB02-50F21C535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F3CC9397-06A5-E477-2B62-45E8A9065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2FD9120-AF76-0A4E-05A8-13CDFD6F9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387310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el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3481F20-B6CB-303C-3F7E-12D1D9F4B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901B874-2F25-FF15-EDDE-BCEFB4D1DA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800B879F-CB7B-B28D-7938-C0D0695FC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56CF1512-E88C-BE30-7DC9-355932971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AB208BF3-2537-F945-0AE7-A0951E524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401904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4FE363A-119F-8142-5203-B5678E91C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96112591-67C5-F308-4CC3-4919918035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B567C126-A6ED-3953-31B4-861762C3F3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FA23CDD2-BFCA-5011-A513-FEF414825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4A5A99E3-EC77-774C-F43D-E40D1E74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1EBEE2F6-795B-E444-DC73-05F21A819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96350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D3DD114-BA29-4738-7318-D232794DB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798E6BB7-D9AD-65C3-8844-82FF47100E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BE4196EA-9D8A-5013-04AB-919B3706FA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tekst 4">
            <a:extLst>
              <a:ext uri="{FF2B5EF4-FFF2-40B4-BE49-F238E27FC236}">
                <a16:creationId xmlns:a16="http://schemas.microsoft.com/office/drawing/2014/main" id="{4B6A42A5-F6BD-BF2C-9DF2-1D4B60F990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6" name="Plassholder for innhold 5">
            <a:extLst>
              <a:ext uri="{FF2B5EF4-FFF2-40B4-BE49-F238E27FC236}">
                <a16:creationId xmlns:a16="http://schemas.microsoft.com/office/drawing/2014/main" id="{081E38F5-4BFE-9DA4-ED4E-7C260F2D3D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276242D0-6316-4527-95DF-B12D2D08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14E5C79D-EAE5-F380-63E4-0CA231268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E9496D58-A626-DACC-1C0E-BC26FFB2E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284780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are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6CA253A-2984-11CD-FD0B-BB2980674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2AC2B438-7779-0E45-FE57-879CD47EB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23E3619E-1149-769E-8297-54EA631EB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79ACBC5F-5581-773D-1B51-1C835B8B8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522135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3EA5D460-3796-42F3-DE47-2B9C03DE3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DF5E1D66-1EE7-FA53-F25B-5D7954361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9A8204BF-E497-E7C7-280B-738EF250F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33094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hold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7507BB8-517E-197D-6776-9C740E1C7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E2832A1A-6021-C3EE-9941-1FAEE3323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6E5811D9-A5EA-00BD-DA77-5502B24429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27DA1BE5-4D3D-9845-018F-70384ADDB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DE57FD96-211D-F312-AC09-8B1B230D9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4D641F1A-412E-60B5-3192-2E90A4AEB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1754365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e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C6341E1-F30B-6ABA-2D87-D97B0C948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bilde 2">
            <a:extLst>
              <a:ext uri="{FF2B5EF4-FFF2-40B4-BE49-F238E27FC236}">
                <a16:creationId xmlns:a16="http://schemas.microsoft.com/office/drawing/2014/main" id="{6A235E5A-814F-FD35-DB50-275B0C1D5D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3A93B522-A5B3-DB5E-2E42-F97D3519FC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F081B9B9-EBB7-A3E5-CF1D-3EB736512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5DE773F0-E3A1-1D38-FC24-B3D0B88D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54DAA6B4-78EA-87F5-097C-FD2B5A9F5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39092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Loddret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F292BE4-5758-1632-C76F-28DDB5D0C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946CEADF-C919-E76E-B9FB-2BE6D71211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2A11AE5-C83D-4AD6-CEE7-C84F8DBC2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601788E0-0D80-2325-1F81-325AFA761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292C17F-A1F8-375C-9385-91A029E4D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16646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drett tit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drett tittel 1">
            <a:extLst>
              <a:ext uri="{FF2B5EF4-FFF2-40B4-BE49-F238E27FC236}">
                <a16:creationId xmlns:a16="http://schemas.microsoft.com/office/drawing/2014/main" id="{B7B3CE20-17DA-416C-1AB6-6935804155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DC3A1D0E-2308-7A14-D7C6-7E3F1845D4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3967366B-A06F-D0EF-97CD-0A501C33F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E0DD5C68-BEBF-B88D-6E31-251D2905E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5EFAD14-3052-E7C3-B901-C62FFF94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851322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42CB8687-45E2-AE6A-972E-7068EED41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3AC5EDE2-03BB-E27D-5F96-622EE380E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7EF3200B-1956-0733-E900-B8717D47DF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F7994A-41AD-4027-8E6D-AD66A7C6695C}" type="datetimeFigureOut">
              <a:rPr lang="nb-NO" smtClean="0"/>
              <a:t>13.03.2026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D2ED652-A4EC-E630-0F7D-7F84CB5B4B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781F0FA7-5D36-B99F-5933-58E59F0E40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841304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ccessive-approximation_ADC" TargetMode="External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90093E8-0B47-C0DA-EE73-FBF65CE8B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53141"/>
            <a:ext cx="9144000" cy="1101060"/>
          </a:xfrm>
        </p:spPr>
        <p:txBody>
          <a:bodyPr/>
          <a:lstStyle/>
          <a:p>
            <a:r>
              <a:rPr lang="nb-NO" b="1" dirty="0"/>
              <a:t>AVR-kurs dag to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B6FB23C2-ECF6-587A-5653-3D306E7CE9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b-NO" dirty="0"/>
          </a:p>
        </p:txBody>
      </p:sp>
      <p:pic>
        <p:nvPicPr>
          <p:cNvPr id="1026" name="Picture 2" descr="Microchip | IAR">
            <a:extLst>
              <a:ext uri="{FF2B5EF4-FFF2-40B4-BE49-F238E27FC236}">
                <a16:creationId xmlns:a16="http://schemas.microsoft.com/office/drawing/2014/main" id="{3D7B7D23-9DCA-4009-1B2A-32ABDBC654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1711" y="3429000"/>
            <a:ext cx="8224929" cy="2406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6793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6F8EA73-668C-E7D3-34EF-2699384C8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Dagens plan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0C0C78A-C9F8-14A1-3A15-F0E5CAFBA7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nb-NO" dirty="0"/>
              <a:t>Analog til Digital-omformere</a:t>
            </a:r>
          </a:p>
          <a:p>
            <a:pPr>
              <a:lnSpc>
                <a:spcPct val="150000"/>
              </a:lnSpc>
            </a:pPr>
            <a:r>
              <a:rPr lang="nb-NO" dirty="0" err="1"/>
              <a:t>Timere</a:t>
            </a:r>
            <a:r>
              <a:rPr lang="nb-NO" dirty="0"/>
              <a:t>/Tellere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Presis kommandoutføring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Pulsviddemodulering (PWM)</a:t>
            </a:r>
          </a:p>
          <a:p>
            <a:pPr>
              <a:lnSpc>
                <a:spcPct val="150000"/>
              </a:lnSpc>
            </a:pPr>
            <a:r>
              <a:rPr lang="nb-NO" dirty="0"/>
              <a:t>UART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Seriell </a:t>
            </a:r>
            <a:r>
              <a:rPr lang="nb-NO" dirty="0" err="1"/>
              <a:t>debugging</a:t>
            </a:r>
            <a:endParaRPr lang="nb-NO" dirty="0"/>
          </a:p>
          <a:p>
            <a:pPr lvl="1">
              <a:lnSpc>
                <a:spcPct val="200000"/>
              </a:lnSpc>
            </a:pP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353285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0A8F851-DE72-2096-9868-52CDCFF2D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Tror vi forklarer </a:t>
            </a:r>
            <a:r>
              <a:rPr lang="nb-NO" dirty="0" err="1"/>
              <a:t>interrupts</a:t>
            </a:r>
            <a:r>
              <a:rPr lang="nb-NO" dirty="0"/>
              <a:t> først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286B691-7FE2-9497-5EA6-A87B41312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09289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3F42A14-5A1D-2B2F-9B62-21091DF63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Analog til Digital omformer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4267687-8471-6F56-F665-1D7F7073ED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0025"/>
            <a:ext cx="10515600" cy="4351338"/>
          </a:xfrm>
        </p:spPr>
        <p:txBody>
          <a:bodyPr/>
          <a:lstStyle/>
          <a:p>
            <a:pPr>
              <a:lnSpc>
                <a:spcPts val="4200"/>
              </a:lnSpc>
            </a:pPr>
            <a:r>
              <a:rPr lang="nb-NO" dirty="0"/>
              <a:t>Måler spenning på en Input-pinne</a:t>
            </a:r>
          </a:p>
          <a:p>
            <a:pPr>
              <a:lnSpc>
                <a:spcPts val="4200"/>
              </a:lnSpc>
            </a:pPr>
            <a:r>
              <a:rPr lang="nb-NO" dirty="0"/>
              <a:t>12-bits oppløsning – 1.2mV presisjon 0-5V</a:t>
            </a:r>
          </a:p>
          <a:p>
            <a:pPr>
              <a:lnSpc>
                <a:spcPts val="4200"/>
              </a:lnSpc>
            </a:pPr>
            <a:r>
              <a:rPr lang="nb-NO" dirty="0"/>
              <a:t>Måler i forhold til justerbar VREF</a:t>
            </a:r>
          </a:p>
          <a:p>
            <a:pPr>
              <a:lnSpc>
                <a:spcPts val="4200"/>
              </a:lnSpc>
            </a:pPr>
            <a:r>
              <a:rPr lang="nb-NO" dirty="0"/>
              <a:t>Kan gi </a:t>
            </a:r>
            <a:r>
              <a:rPr lang="nb-NO" dirty="0" err="1"/>
              <a:t>interrupt</a:t>
            </a:r>
            <a:r>
              <a:rPr lang="nb-NO" dirty="0"/>
              <a:t> når den har målt ferdig</a:t>
            </a:r>
          </a:p>
          <a:p>
            <a:pPr lvl="1">
              <a:lnSpc>
                <a:spcPts val="4200"/>
              </a:lnSpc>
            </a:pPr>
            <a:r>
              <a:rPr lang="nb-NO" dirty="0"/>
              <a:t>Også om målingen er over/under/mellom referanseverdier</a:t>
            </a:r>
          </a:p>
          <a:p>
            <a:pPr>
              <a:lnSpc>
                <a:spcPts val="4200"/>
              </a:lnSpc>
            </a:pPr>
            <a:endParaRPr lang="nb-NO" dirty="0"/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5D21904E-8171-77E5-7F03-D60ED5DB90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480078"/>
            <a:ext cx="8220778" cy="2682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134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54B47F0-0A6E-C15C-A97D-CB63FAFD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Virkemåte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34B09470-779E-C63D-ADDE-B2C92CEC6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 err="1"/>
              <a:t>Successive</a:t>
            </a:r>
            <a:r>
              <a:rPr lang="nb-NO" dirty="0"/>
              <a:t> </a:t>
            </a:r>
            <a:r>
              <a:rPr lang="nb-NO" dirty="0" err="1"/>
              <a:t>approximation</a:t>
            </a:r>
            <a:br>
              <a:rPr lang="nb-NO" dirty="0"/>
            </a:br>
            <a:r>
              <a:rPr lang="nb-NO" dirty="0"/>
              <a:t>(SAR)</a:t>
            </a:r>
          </a:p>
          <a:p>
            <a:r>
              <a:rPr lang="nb-NO" dirty="0"/>
              <a:t>Bruker en DAC for å tilnærme</a:t>
            </a:r>
            <a:br>
              <a:rPr lang="nb-NO" dirty="0"/>
            </a:br>
            <a:r>
              <a:rPr lang="nb-NO" dirty="0"/>
              <a:t>seg verdien i mindre steg</a:t>
            </a:r>
          </a:p>
          <a:p>
            <a:pPr marL="0" indent="0">
              <a:buNone/>
            </a:pPr>
            <a:endParaRPr lang="nb-NO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CEADE59-FD6F-4D3A-883B-16A06F5796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334"/>
          <a:stretch>
            <a:fillRect/>
          </a:stretch>
        </p:blipFill>
        <p:spPr bwMode="auto">
          <a:xfrm>
            <a:off x="5643721" y="1690688"/>
            <a:ext cx="6202839" cy="4248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kstSylinder 3">
            <a:extLst>
              <a:ext uri="{FF2B5EF4-FFF2-40B4-BE49-F238E27FC236}">
                <a16:creationId xmlns:a16="http://schemas.microsoft.com/office/drawing/2014/main" id="{410B0CC8-2A18-5047-D6F6-132BB837A8FF}"/>
              </a:ext>
            </a:extLst>
          </p:cNvPr>
          <p:cNvSpPr txBox="1"/>
          <p:nvPr/>
        </p:nvSpPr>
        <p:spPr>
          <a:xfrm>
            <a:off x="4033520" y="6211669"/>
            <a:ext cx="82651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b-NO" dirty="0"/>
              <a:t>Animasjon av </a:t>
            </a:r>
            <a:r>
              <a:rPr lang="nb-NO" dirty="0" err="1"/>
              <a:t>Uwezi</a:t>
            </a:r>
            <a:r>
              <a:rPr lang="nb-NO" dirty="0"/>
              <a:t>, </a:t>
            </a:r>
          </a:p>
          <a:p>
            <a:r>
              <a:rPr lang="nb-NO" dirty="0">
                <a:hlinkClick r:id="rId3"/>
              </a:rPr>
              <a:t>https://en.wikipedia.org/wiki/Successive-approximation_ADC</a:t>
            </a:r>
            <a:r>
              <a:rPr lang="nb-NO" dirty="0"/>
              <a:t> (hentet 13.03.2026)</a:t>
            </a:r>
          </a:p>
        </p:txBody>
      </p:sp>
    </p:spTree>
    <p:extLst>
      <p:ext uri="{BB962C8B-B14F-4D97-AF65-F5344CB8AC3E}">
        <p14:creationId xmlns:p14="http://schemas.microsoft.com/office/powerpoint/2010/main" val="1171314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287AB4D-FBC1-DE6B-F806-E6B2EC6AA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2BBE370-2AFA-931B-E991-D2534F9AA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Legg til ADC som komponent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E4A6B338-0160-ABCB-2C33-D032A4DDE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4922280"/>
            <a:ext cx="9929720" cy="1905165"/>
          </a:xfrm>
          <a:prstGeom prst="rect">
            <a:avLst/>
          </a:prstGeom>
        </p:spPr>
      </p:pic>
      <p:pic>
        <p:nvPicPr>
          <p:cNvPr id="7" name="Bilde 6">
            <a:extLst>
              <a:ext uri="{FF2B5EF4-FFF2-40B4-BE49-F238E27FC236}">
                <a16:creationId xmlns:a16="http://schemas.microsoft.com/office/drawing/2014/main" id="{BB5C1C8B-1D78-0384-5D81-8A619E87EC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9600" b="25299"/>
          <a:stretch>
            <a:fillRect/>
          </a:stretch>
        </p:blipFill>
        <p:spPr>
          <a:xfrm>
            <a:off x="6096000" y="1027906"/>
            <a:ext cx="5546488" cy="3404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849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0C033-4B7D-CCB9-ED1F-71F8B45A8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5BB657C-7FBD-1825-DC94-DE23A600C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7B8D1AA8-629E-92F0-3AA8-2F8DFE642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Velg oppløsning og inngang</a:t>
            </a:r>
          </a:p>
          <a:p>
            <a:pPr lvl="1"/>
            <a:r>
              <a:rPr lang="nb-NO" dirty="0"/>
              <a:t>Hvilken pinne hver inngang går til står i </a:t>
            </a:r>
            <a:br>
              <a:rPr lang="nb-NO" dirty="0"/>
            </a:br>
            <a:r>
              <a:rPr lang="nb-NO" dirty="0"/>
              <a:t>databladet, og dukker opp nederst på</a:t>
            </a:r>
            <a:br>
              <a:rPr lang="nb-NO" dirty="0"/>
            </a:br>
            <a:r>
              <a:rPr lang="nb-NO" dirty="0"/>
              <a:t>skjermen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B475FD3D-1455-88EB-7F38-060DD21D7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379" y="1163116"/>
            <a:ext cx="3939881" cy="469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063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F7479-F08D-B5AB-F4F0-3F8963131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9D1584-296F-B440-5134-556101572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E62DDAA7-5A04-94BE-3056-0C4CD59D5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 err="1"/>
              <a:t>Interrupts</a:t>
            </a:r>
            <a:r>
              <a:rPr lang="nb-NO" dirty="0"/>
              <a:t> og grenseverdier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3101A4BC-9E40-8E6C-55C6-D10DA7CBA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1" y="1308000"/>
            <a:ext cx="6156960" cy="424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344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9A730-BB7E-0E52-66D1-C63F5B62D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289A77D-4D80-C8C4-0817-0EDADFA11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D4ECD499-AA24-6144-276C-E4AA48287E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Sette </a:t>
            </a:r>
            <a:r>
              <a:rPr lang="nb-NO" dirty="0" err="1"/>
              <a:t>prescaler</a:t>
            </a:r>
            <a:endParaRPr lang="nb-NO" dirty="0"/>
          </a:p>
          <a:p>
            <a:pPr lvl="1"/>
            <a:r>
              <a:rPr lang="nb-NO" dirty="0"/>
              <a:t>Justerer over hvor lang </a:t>
            </a:r>
            <a:br>
              <a:rPr lang="nb-NO" dirty="0"/>
            </a:br>
            <a:r>
              <a:rPr lang="nb-NO" dirty="0"/>
              <a:t>tid </a:t>
            </a:r>
            <a:r>
              <a:rPr lang="nb-NO" dirty="0" err="1"/>
              <a:t>ADCen</a:t>
            </a:r>
            <a:r>
              <a:rPr lang="nb-NO" dirty="0"/>
              <a:t> måler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D5706FEF-289D-0CF4-7D05-342019329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991" y="1825625"/>
            <a:ext cx="6632616" cy="3173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657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3CC2766-9F34-9AE6-7CF7-9524B9CDC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Kode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299A0F9-3095-6AB3-BFBE-EF5513911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Viktig kode her</a:t>
            </a:r>
          </a:p>
        </p:txBody>
      </p:sp>
    </p:spTree>
    <p:extLst>
      <p:ext uri="{BB962C8B-B14F-4D97-AF65-F5344CB8AC3E}">
        <p14:creationId xmlns:p14="http://schemas.microsoft.com/office/powerpoint/2010/main" val="1042268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56A8F48D-AD2E-A23C-9842-E1B1A6731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Teller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1B411D0-E0DC-AE1E-03C1-ADC3D113B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Tre typer</a:t>
            </a:r>
          </a:p>
          <a:p>
            <a:r>
              <a:rPr lang="nb-NO" dirty="0"/>
              <a:t>Vi fokuserer på type A (TCA0 og TCA1)</a:t>
            </a:r>
          </a:p>
        </p:txBody>
      </p:sp>
      <p:grpSp>
        <p:nvGrpSpPr>
          <p:cNvPr id="8" name="Gruppe 7">
            <a:extLst>
              <a:ext uri="{FF2B5EF4-FFF2-40B4-BE49-F238E27FC236}">
                <a16:creationId xmlns:a16="http://schemas.microsoft.com/office/drawing/2014/main" id="{4FA3E974-BCE0-8812-4B00-07F0EE4846D5}"/>
              </a:ext>
            </a:extLst>
          </p:cNvPr>
          <p:cNvGrpSpPr/>
          <p:nvPr/>
        </p:nvGrpSpPr>
        <p:grpSpPr>
          <a:xfrm>
            <a:off x="4545206" y="2917682"/>
            <a:ext cx="6308426" cy="1390157"/>
            <a:chOff x="5491868" y="2409683"/>
            <a:chExt cx="4625587" cy="1019318"/>
          </a:xfrm>
        </p:grpSpPr>
        <p:pic>
          <p:nvPicPr>
            <p:cNvPr id="5" name="Bilde 4">
              <a:extLst>
                <a:ext uri="{FF2B5EF4-FFF2-40B4-BE49-F238E27FC236}">
                  <a16:creationId xmlns:a16="http://schemas.microsoft.com/office/drawing/2014/main" id="{C7DEC46B-4835-4C82-E651-769E0045AB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91868" y="2409683"/>
              <a:ext cx="3096057" cy="1019317"/>
            </a:xfrm>
            <a:prstGeom prst="rect">
              <a:avLst/>
            </a:prstGeom>
          </p:spPr>
        </p:pic>
        <p:pic>
          <p:nvPicPr>
            <p:cNvPr id="7" name="Bilde 6">
              <a:extLst>
                <a:ext uri="{FF2B5EF4-FFF2-40B4-BE49-F238E27FC236}">
                  <a16:creationId xmlns:a16="http://schemas.microsoft.com/office/drawing/2014/main" id="{B9EDD20D-FAC4-93DC-567C-8ED6B01EF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647" b="492"/>
            <a:stretch>
              <a:fillRect/>
            </a:stretch>
          </p:blipFill>
          <p:spPr>
            <a:xfrm>
              <a:off x="8587925" y="2409683"/>
              <a:ext cx="1529530" cy="10193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732546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173</Words>
  <Application>Microsoft Office PowerPoint</Application>
  <PresentationFormat>Widescreen</PresentationFormat>
  <Paragraphs>35</Paragraphs>
  <Slides>11</Slides>
  <Notes>0</Notes>
  <HiddenSlides>0</HiddenSlides>
  <MMClips>0</MMClips>
  <ScaleCrop>false</ScaleCrop>
  <HeadingPairs>
    <vt:vector size="6" baseType="variant">
      <vt:variant>
        <vt:lpstr>Brukte skrifter</vt:lpstr>
      </vt:variant>
      <vt:variant>
        <vt:i4>3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Office-tema</vt:lpstr>
      <vt:lpstr>AVR-kurs dag to</vt:lpstr>
      <vt:lpstr>Dagens plan</vt:lpstr>
      <vt:lpstr>Tror vi forklarer interrupts først</vt:lpstr>
      <vt:lpstr>Analog til Digital omformer</vt:lpstr>
      <vt:lpstr>Virkemåte</vt:lpstr>
      <vt:lpstr>Konfigurering - MCC</vt:lpstr>
      <vt:lpstr>Konfigurering - MCC</vt:lpstr>
      <vt:lpstr>Konfigurering - MCC</vt:lpstr>
      <vt:lpstr>Konfigurering - MCC</vt:lpstr>
      <vt:lpstr>Kode</vt:lpstr>
      <vt:lpstr>Teller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Torbjørn Gorsetbakk</dc:creator>
  <cp:lastModifiedBy>Torbjørn Gorsetbakk</cp:lastModifiedBy>
  <cp:revision>8</cp:revision>
  <dcterms:created xsi:type="dcterms:W3CDTF">2026-03-13T10:10:09Z</dcterms:created>
  <dcterms:modified xsi:type="dcterms:W3CDTF">2026-03-13T14:23:08Z</dcterms:modified>
</cp:coreProperties>
</file>
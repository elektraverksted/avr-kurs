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0" r:id="rId4"/>
    <p:sldId id="269" r:id="rId5"/>
    <p:sldId id="270" r:id="rId6"/>
    <p:sldId id="267" r:id="rId7"/>
    <p:sldId id="26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58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73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6A25B-A690-4E14-9ED0-D2ECF6431ED6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ED96-8DE0-441C-B2ED-FF713A48F07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852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Bemerk at en seriell kommunikasjonsprotokoll sender data bitvis, en og en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EED96-8DE0-441C-B2ED-FF713A48F07D}" type="slidenum">
              <a:rPr lang="nb-NO" smtClean="0"/>
              <a:t>25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61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6509A03-9F0A-E72C-2C62-709941A0E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5743787-8E22-F1E5-D4AC-1BDA83684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871C1C2-BB33-7ED7-A39F-429E23F8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AABC220-53F8-9686-70F0-14368B30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9D16290-A80F-ECC0-D96F-22A0AF3B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5612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8FF637A-1229-28F9-32A2-D1722ED8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51EA68F-7D4A-7D84-1D27-C1B802286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A2AD12D-4456-E55F-AB02-50F21C53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3CC9397-06A5-E477-2B62-45E8A906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2FD9120-AF76-0A4E-05A8-13CDFD6F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731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3481F20-B6CB-303C-3F7E-12D1D9F4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901B874-2F25-FF15-EDDE-BCEFB4D1D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00B879F-CB7B-B28D-7938-C0D0695F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6CF1512-E88C-BE30-7DC9-35593297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B208BF3-2537-F945-0AE7-A0951E52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0190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FE363A-119F-8142-5203-B5678E91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6112591-67C5-F308-4CC3-491991803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567C126-A6ED-3953-31B4-861762C3F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A23CDD2-BFCA-5011-A513-FEF41482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A5A99E3-EC77-774C-F43D-E40D1E74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EBEE2F6-795B-E444-DC73-05F21A81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96350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D3DD114-BA29-4738-7318-D232794D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98E6BB7-D9AD-65C3-8844-82FF4710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E4196EA-9D8A-5013-04AB-919B3706F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B6A42A5-F6BD-BF2C-9DF2-1D4B60F99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081E38F5-4BFE-9DA4-ED4E-7C260F2D3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276242D0-6316-4527-95DF-B12D2D08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14E5C79D-EAE5-F380-63E4-0CA23126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E9496D58-A626-DACC-1C0E-BC26FFB2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478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6CA253A-2984-11CD-FD0B-BB298067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2AC2B438-7779-0E45-FE57-879CD47E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3E3619E-1149-769E-8297-54EA631E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79ACBC5F-5581-773D-1B51-1C835B8B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2213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3EA5D460-3796-42F3-DE47-2B9C03DE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F5E1D66-1EE7-FA53-F25B-5D795436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9A8204BF-E497-E7C7-280B-738EF250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3094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7507BB8-517E-197D-6776-9C740E1C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2832A1A-6021-C3EE-9941-1FAEE332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E5811D9-A5EA-00BD-DA77-5502B2442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7DA1BE5-4D3D-9845-018F-70384ADD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E57FD96-211D-F312-AC09-8B1B230D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D641F1A-412E-60B5-3192-2E90A4AE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543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6341E1-F30B-6ABA-2D87-D97B0C94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6A235E5A-814F-FD35-DB50-275B0C1D5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A93B522-A5B3-DB5E-2E42-F97D3519F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081B9B9-EBB7-A3E5-CF1D-3EB73651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DE773F0-E3A1-1D38-FC24-B3D0B88D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4DAA6B4-78EA-87F5-097C-FD2B5A9F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909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292BE4-5758-1632-C76F-28DDB5D0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946CEADF-C919-E76E-B9FB-2BE6D7121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2A11AE5-C83D-4AD6-CEE7-C84F8DBC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01788E0-0D80-2325-1F81-325AFA76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292C17F-A1F8-375C-9385-91A029E4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1664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B7B3CE20-17DA-416C-1AB6-693580415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C3A1D0E-2308-7A14-D7C6-7E3F1845D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967366B-A06F-D0EF-97CD-0A501C33F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0DD5C68-BEBF-B88D-6E31-251D2905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5EFAD14-3052-E7C3-B901-C62FFF94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132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2CB8687-45E2-AE6A-972E-7068EED41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AC5EDE2-03BB-E27D-5F96-622EE380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EF3200B-1956-0733-E900-B8717D47D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7994A-41AD-4027-8E6D-AD66A7C6695C}" type="datetimeFigureOut">
              <a:rPr lang="nb-NO" smtClean="0"/>
              <a:t>15.03.2026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D2ED652-A4EC-E630-0F7D-7F84CB5B4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81F0FA7-5D36-B99F-5933-58E59F0E4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A1624-E44C-4A01-8E89-B93DDAFA247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4130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uccessive-approximation_ADC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0093E8-0B47-C0DA-EE73-FBF65CE8B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141"/>
            <a:ext cx="9144000" cy="1101060"/>
          </a:xfrm>
        </p:spPr>
        <p:txBody>
          <a:bodyPr/>
          <a:lstStyle/>
          <a:p>
            <a:r>
              <a:rPr lang="nb-NO" b="1" dirty="0"/>
              <a:t>AVR-kurs dag to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6FB23C2-ECF6-587A-5653-3D306E7CE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1026" name="Picture 2" descr="Microchip | IAR">
            <a:extLst>
              <a:ext uri="{FF2B5EF4-FFF2-40B4-BE49-F238E27FC236}">
                <a16:creationId xmlns:a16="http://schemas.microsoft.com/office/drawing/2014/main" id="{3D7B7D23-9DCA-4009-1B2A-32ABDBC65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2" y="4090774"/>
            <a:ext cx="8224929" cy="240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58B82D83-3BE2-96A2-55D8-90E8866DD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29" y="4239397"/>
            <a:ext cx="2036806" cy="20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9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6F8EA73-668C-E7D3-34EF-2699384C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Dagens plan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0C0C78A-C9F8-14A1-3A15-F0E5CAFBA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nb-NO" dirty="0" err="1"/>
              <a:t>Interrupts</a:t>
            </a:r>
            <a:endParaRPr lang="nb-NO" dirty="0"/>
          </a:p>
          <a:p>
            <a:pPr>
              <a:lnSpc>
                <a:spcPct val="150000"/>
              </a:lnSpc>
            </a:pPr>
            <a:r>
              <a:rPr lang="nb-NO" dirty="0"/>
              <a:t>Analog til Digital-omformere</a:t>
            </a:r>
          </a:p>
          <a:p>
            <a:pPr>
              <a:lnSpc>
                <a:spcPct val="150000"/>
              </a:lnSpc>
            </a:pPr>
            <a:r>
              <a:rPr lang="nb-NO" dirty="0" err="1"/>
              <a:t>Timere</a:t>
            </a:r>
            <a:r>
              <a:rPr lang="nb-NO" dirty="0"/>
              <a:t>/Tellere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Presis kommandoutføring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Pulsviddemodulering (PWM)</a:t>
            </a:r>
          </a:p>
          <a:p>
            <a:pPr>
              <a:lnSpc>
                <a:spcPct val="150000"/>
              </a:lnSpc>
            </a:pPr>
            <a:r>
              <a:rPr lang="nb-NO" dirty="0"/>
              <a:t>UART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Seriell </a:t>
            </a:r>
            <a:r>
              <a:rPr lang="nb-NO" dirty="0" err="1"/>
              <a:t>debugging</a:t>
            </a:r>
            <a:endParaRPr lang="nb-NO" dirty="0"/>
          </a:p>
          <a:p>
            <a:pPr lvl="1">
              <a:lnSpc>
                <a:spcPct val="200000"/>
              </a:lnSpc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5328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0A8F851-DE72-2096-9868-52CDCFF2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Interrupts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286B691-7FE2-9497-5EA6-A87B41312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Signal fra en periferienhet, hendelse</a:t>
            </a:r>
          </a:p>
          <a:p>
            <a:r>
              <a:rPr lang="nb-NO" dirty="0"/>
              <a:t>Høy prioritet, umiddelbar respons</a:t>
            </a:r>
          </a:p>
          <a:p>
            <a:endParaRPr lang="nb-NO" dirty="0"/>
          </a:p>
          <a:p>
            <a:r>
              <a:rPr lang="nb-NO" dirty="0"/>
              <a:t>Eks</a:t>
            </a:r>
          </a:p>
          <a:p>
            <a:pPr lvl="1"/>
            <a:r>
              <a:rPr lang="nb-NO" dirty="0"/>
              <a:t>Sende data når inngang blir høy</a:t>
            </a:r>
          </a:p>
          <a:p>
            <a:pPr lvl="1"/>
            <a:r>
              <a:rPr lang="nb-NO" dirty="0"/>
              <a:t>Lese ADC med jevne mellomrom(timer)</a:t>
            </a:r>
          </a:p>
          <a:p>
            <a:pPr lvl="1"/>
            <a:endParaRPr lang="nb-NO" dirty="0"/>
          </a:p>
          <a:p>
            <a:r>
              <a:rPr lang="nb-NO" dirty="0"/>
              <a:t>Unngår </a:t>
            </a:r>
            <a:r>
              <a:rPr lang="nb-NO" dirty="0" err="1"/>
              <a:t>polling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0928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3725941-D178-F2CB-9AE6-7EF11CFD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Interrupt</a:t>
            </a:r>
            <a:r>
              <a:rPr lang="nb-NO" dirty="0"/>
              <a:t> vektor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2A960BE-38D1-7A11-FFA9-BD960A042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Hvordan man bestemmer hvilken funksjon som utføres ved hvilken </a:t>
            </a:r>
            <a:r>
              <a:rPr lang="nb-NO" dirty="0" err="1"/>
              <a:t>interrupt</a:t>
            </a:r>
            <a:endParaRPr lang="nb-NO" dirty="0"/>
          </a:p>
          <a:p>
            <a:r>
              <a:rPr lang="nb-NO" dirty="0"/>
              <a:t>Tilsvarer en dedikert adresse i minnet</a:t>
            </a:r>
          </a:p>
          <a:p>
            <a:r>
              <a:rPr lang="nb-NO" i="1" dirty="0" err="1">
                <a:solidFill>
                  <a:schemeClr val="bg1">
                    <a:lumMod val="50000"/>
                  </a:schemeClr>
                </a:solidFill>
              </a:rPr>
              <a:t>Periferienhet</a:t>
            </a:r>
            <a:r>
              <a:rPr lang="nb-NO" i="1" dirty="0" err="1"/>
              <a:t>_</a:t>
            </a:r>
            <a:r>
              <a:rPr lang="nb-NO" i="1" dirty="0" err="1">
                <a:solidFill>
                  <a:schemeClr val="bg1">
                    <a:lumMod val="50000"/>
                  </a:schemeClr>
                </a:solidFill>
              </a:rPr>
              <a:t>vektornavn</a:t>
            </a:r>
            <a:r>
              <a:rPr lang="nb-NO" i="1" dirty="0" err="1"/>
              <a:t>_</a:t>
            </a:r>
            <a:r>
              <a:rPr lang="nb-NO" dirty="0" err="1"/>
              <a:t>vect</a:t>
            </a:r>
            <a:endParaRPr lang="nb-NO" dirty="0"/>
          </a:p>
          <a:p>
            <a:r>
              <a:rPr lang="nb-NO" dirty="0"/>
              <a:t>Vektornavn finnes i beskrivelsen for hver </a:t>
            </a:r>
            <a:br>
              <a:rPr lang="nb-NO" dirty="0"/>
            </a:br>
            <a:r>
              <a:rPr lang="nb-NO" dirty="0"/>
              <a:t>periferienhet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Funksjoner bør være korte, «flagg» kan vurderes</a:t>
            </a:r>
          </a:p>
        </p:txBody>
      </p:sp>
    </p:spTree>
    <p:extLst>
      <p:ext uri="{BB962C8B-B14F-4D97-AF65-F5344CB8AC3E}">
        <p14:creationId xmlns:p14="http://schemas.microsoft.com/office/powerpoint/2010/main" val="73675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9E49625-2BD4-EF7C-25A6-43EEDDBE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Interrupt</a:t>
            </a:r>
            <a:r>
              <a:rPr lang="nb-NO" dirty="0"/>
              <a:t> vektor – Eksempel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B72835-6CD2-245E-8B36-0123C3B5B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OVF – </a:t>
            </a:r>
            <a:r>
              <a:rPr lang="nb-NO" dirty="0" err="1"/>
              <a:t>Overflow</a:t>
            </a:r>
            <a:r>
              <a:rPr lang="nb-NO" dirty="0"/>
              <a:t> i TCA0 periferienheten</a:t>
            </a:r>
            <a:br>
              <a:rPr lang="nb-NO" dirty="0"/>
            </a:br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B62ABFA-0191-C477-7E00-6328B550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261" y="2766636"/>
            <a:ext cx="4315427" cy="3067478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CDE06E3C-D854-6EF1-C1F5-6497903D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96226"/>
            <a:ext cx="5486285" cy="259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9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64EA40-F741-111E-EAE3-7DB94297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Aktivering - MCC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9E16FA4-A92A-1403-0AE0-62FD8DEF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467D6B66-1C01-E0A0-794F-7226B367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15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5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DF05A55-F86E-AE5F-B667-5160AEAD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Aktivering - Kode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6F33DD66-49D7-0D89-2766-20D4ABEC1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880" y="1796689"/>
            <a:ext cx="8061300" cy="427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3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F42A14-5A1D-2B2F-9B62-21091DF6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Analog til Digital omformer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4267687-8471-6F56-F665-1D7F7073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025"/>
            <a:ext cx="10515600" cy="4351338"/>
          </a:xfrm>
        </p:spPr>
        <p:txBody>
          <a:bodyPr/>
          <a:lstStyle/>
          <a:p>
            <a:pPr>
              <a:lnSpc>
                <a:spcPts val="4200"/>
              </a:lnSpc>
            </a:pPr>
            <a:r>
              <a:rPr lang="nb-NO" dirty="0"/>
              <a:t>Måler spenning på en Input-pinne</a:t>
            </a:r>
          </a:p>
          <a:p>
            <a:pPr>
              <a:lnSpc>
                <a:spcPts val="4200"/>
              </a:lnSpc>
            </a:pPr>
            <a:r>
              <a:rPr lang="nb-NO" dirty="0"/>
              <a:t>12-bits oppløsning – 1.2mV presisjon 0-5V</a:t>
            </a:r>
          </a:p>
          <a:p>
            <a:pPr>
              <a:lnSpc>
                <a:spcPts val="4200"/>
              </a:lnSpc>
            </a:pPr>
            <a:r>
              <a:rPr lang="nb-NO" dirty="0"/>
              <a:t>Måler i forhold til justerbar VREF</a:t>
            </a:r>
          </a:p>
          <a:p>
            <a:pPr>
              <a:lnSpc>
                <a:spcPts val="4200"/>
              </a:lnSpc>
            </a:pPr>
            <a:r>
              <a:rPr lang="nb-NO" dirty="0"/>
              <a:t>Kan gi </a:t>
            </a:r>
            <a:r>
              <a:rPr lang="nb-NO" dirty="0" err="1"/>
              <a:t>interrupt</a:t>
            </a:r>
            <a:r>
              <a:rPr lang="nb-NO" dirty="0"/>
              <a:t> når den har målt ferdig</a:t>
            </a:r>
          </a:p>
          <a:p>
            <a:pPr lvl="1">
              <a:lnSpc>
                <a:spcPts val="4200"/>
              </a:lnSpc>
            </a:pPr>
            <a:r>
              <a:rPr lang="nb-NO" dirty="0"/>
              <a:t>Også om målingen er over/under/mellom referanseverdier</a:t>
            </a:r>
          </a:p>
          <a:p>
            <a:pPr>
              <a:lnSpc>
                <a:spcPts val="4200"/>
              </a:lnSpc>
            </a:pPr>
            <a:endParaRPr lang="nb-NO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D21904E-8171-77E5-7F03-D60ED5DB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35" y="4480078"/>
            <a:ext cx="8220778" cy="26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3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54B47F0-0A6E-C15C-A97D-CB63FAFD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Virkemåte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4B09470-779E-C63D-ADDE-B2C92CEC6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Successive</a:t>
            </a:r>
            <a:r>
              <a:rPr lang="nb-NO" dirty="0"/>
              <a:t> </a:t>
            </a:r>
            <a:r>
              <a:rPr lang="nb-NO" dirty="0" err="1"/>
              <a:t>approximation</a:t>
            </a:r>
            <a:br>
              <a:rPr lang="nb-NO" dirty="0"/>
            </a:br>
            <a:r>
              <a:rPr lang="nb-NO" dirty="0"/>
              <a:t>(SAR)</a:t>
            </a:r>
          </a:p>
          <a:p>
            <a:r>
              <a:rPr lang="nb-NO" dirty="0"/>
              <a:t>Bruker en DAC for å tilnærme</a:t>
            </a:r>
            <a:br>
              <a:rPr lang="nb-NO" dirty="0"/>
            </a:br>
            <a:r>
              <a:rPr lang="nb-NO" dirty="0"/>
              <a:t>seg verdien i mindre steg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EADE59-FD6F-4D3A-883B-16A06F579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4"/>
          <a:stretch>
            <a:fillRect/>
          </a:stretch>
        </p:blipFill>
        <p:spPr bwMode="auto">
          <a:xfrm>
            <a:off x="5643721" y="1690688"/>
            <a:ext cx="6202839" cy="424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Sylinder 3">
            <a:extLst>
              <a:ext uri="{FF2B5EF4-FFF2-40B4-BE49-F238E27FC236}">
                <a16:creationId xmlns:a16="http://schemas.microsoft.com/office/drawing/2014/main" id="{410B0CC8-2A18-5047-D6F6-132BB837A8FF}"/>
              </a:ext>
            </a:extLst>
          </p:cNvPr>
          <p:cNvSpPr txBox="1"/>
          <p:nvPr/>
        </p:nvSpPr>
        <p:spPr>
          <a:xfrm>
            <a:off x="4033520" y="6211669"/>
            <a:ext cx="8265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Animasjon av </a:t>
            </a:r>
            <a:r>
              <a:rPr lang="nb-NO" dirty="0" err="1"/>
              <a:t>Uwezi</a:t>
            </a:r>
            <a:r>
              <a:rPr lang="nb-NO" dirty="0"/>
              <a:t>, </a:t>
            </a:r>
          </a:p>
          <a:p>
            <a:r>
              <a:rPr lang="nb-NO" dirty="0">
                <a:hlinkClick r:id="rId3"/>
              </a:rPr>
              <a:t>https://en.wikipedia.org/wiki/Successive-approximation_ADC</a:t>
            </a:r>
            <a:r>
              <a:rPr lang="nb-NO" dirty="0"/>
              <a:t> (hentet 13.03.2026)</a:t>
            </a:r>
          </a:p>
        </p:txBody>
      </p:sp>
    </p:spTree>
    <p:extLst>
      <p:ext uri="{BB962C8B-B14F-4D97-AF65-F5344CB8AC3E}">
        <p14:creationId xmlns:p14="http://schemas.microsoft.com/office/powerpoint/2010/main" val="117131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287AB4D-FBC1-DE6B-F806-E6B2EC6A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Konfigurering - MCC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BBE370-2AFA-931B-E991-D2534F9AA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Legg til ADC som komponent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E4A6B338-0160-ABCB-2C33-D032A4DD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922280"/>
            <a:ext cx="9929720" cy="1905165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BB5C1C8B-1D78-0384-5D81-8A619E87E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600" b="25299"/>
          <a:stretch>
            <a:fillRect/>
          </a:stretch>
        </p:blipFill>
        <p:spPr>
          <a:xfrm>
            <a:off x="6096000" y="1027906"/>
            <a:ext cx="5546488" cy="340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49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C033-4B7D-CCB9-ED1F-71F8B45A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BB657C-7FBD-1825-DC94-DE23A600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Konfigurering - MCC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B8D1AA8-629E-92F0-3AA8-2F8DFE642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Velg oppløsning og inngang</a:t>
            </a:r>
          </a:p>
          <a:p>
            <a:pPr lvl="1"/>
            <a:r>
              <a:rPr lang="nb-NO" dirty="0"/>
              <a:t>Hvilken digitalpinne hver Ain er koblet </a:t>
            </a:r>
            <a:br>
              <a:rPr lang="nb-NO" dirty="0"/>
            </a:br>
            <a:r>
              <a:rPr lang="nb-NO" dirty="0"/>
              <a:t>til dukker opp nederst på</a:t>
            </a:r>
            <a:br>
              <a:rPr lang="nb-NO" dirty="0"/>
            </a:br>
            <a:r>
              <a:rPr lang="nb-NO" dirty="0"/>
              <a:t>skjermen, og finnes i databladet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B475FD3D-1455-88EB-7F38-060DD21D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379" y="1163116"/>
            <a:ext cx="3939881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63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7479-F08D-B5AB-F4F0-3F896313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9D1584-296F-B440-5134-55610157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Konfigurering - MCC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62DDAA7-5A04-94BE-3056-0C4CD59D5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Interrupts</a:t>
            </a:r>
            <a:r>
              <a:rPr lang="nb-NO" dirty="0"/>
              <a:t> og grenseverdier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Over nedre grenseverdi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Under øvre grenseverdi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Mellom grenseverdiene</a:t>
            </a:r>
          </a:p>
          <a:p>
            <a:pPr lvl="1">
              <a:lnSpc>
                <a:spcPct val="100000"/>
              </a:lnSpc>
            </a:pPr>
            <a:r>
              <a:rPr lang="nb-NO" dirty="0"/>
              <a:t>Større enn øvre eller</a:t>
            </a:r>
            <a:br>
              <a:rPr lang="nb-NO" dirty="0"/>
            </a:br>
            <a:r>
              <a:rPr lang="nb-NO" dirty="0"/>
              <a:t>mindre enn </a:t>
            </a:r>
            <a:r>
              <a:rPr lang="nb-NO" dirty="0" err="1"/>
              <a:t>lavre</a:t>
            </a:r>
            <a:r>
              <a:rPr lang="nb-NO" dirty="0"/>
              <a:t> grenseverdi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3101A4BC-9E40-8E6C-55C6-D10DA7CB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946" y="1825625"/>
            <a:ext cx="6156960" cy="4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4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A730-BB7E-0E52-66D1-C63F5B62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289A77D-4D80-C8C4-0817-0EDADFA1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Konfigurering - MCC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4ECD499-AA24-6144-276C-E4AA48287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Sette </a:t>
            </a:r>
            <a:r>
              <a:rPr lang="nb-NO" dirty="0" err="1"/>
              <a:t>prescaler</a:t>
            </a:r>
            <a:endParaRPr lang="nb-NO" dirty="0"/>
          </a:p>
          <a:p>
            <a:pPr lvl="1"/>
            <a:r>
              <a:rPr lang="nb-NO" dirty="0"/>
              <a:t>Justerer hvor raskt </a:t>
            </a:r>
            <a:br>
              <a:rPr lang="nb-NO" dirty="0"/>
            </a:br>
            <a:r>
              <a:rPr lang="nb-NO" dirty="0"/>
              <a:t>målingen utføres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D5706FEF-289D-0CF4-7D05-342019329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991" y="1825625"/>
            <a:ext cx="6632616" cy="31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5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CC2766-9F34-9AE6-7CF7-9524B9CD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Kode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299A0F9-3095-6AB3-BFBE-EF5513911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MCC genererte funksjoner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D83505C7-A04A-3A53-B569-2EFC0CA1E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6" y="2772397"/>
            <a:ext cx="10726647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6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A8F48D-AD2E-A23C-9842-E1B1A673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Teller/Timer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1B411D0-E0DC-AE1E-03C1-ADC3D113B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Tre typer</a:t>
            </a:r>
          </a:p>
          <a:p>
            <a:r>
              <a:rPr lang="nb-NO" dirty="0"/>
              <a:t>Vi fokuserer på type A (TCA0 og TCA1)</a:t>
            </a:r>
          </a:p>
          <a:p>
            <a:r>
              <a:rPr lang="nb-NO" dirty="0"/>
              <a:t>16-biters register</a:t>
            </a:r>
          </a:p>
          <a:p>
            <a:pPr lvl="1"/>
            <a:r>
              <a:rPr lang="nb-NO" dirty="0"/>
              <a:t>Kan deles i to 8-bit tellere</a:t>
            </a:r>
          </a:p>
          <a:p>
            <a:r>
              <a:rPr lang="nb-NO" dirty="0"/>
              <a:t>Verdien økes med 1 ved gitte</a:t>
            </a:r>
            <a:br>
              <a:rPr lang="nb-NO" dirty="0"/>
            </a:br>
            <a:r>
              <a:rPr lang="nb-NO" dirty="0"/>
              <a:t>tilfeller </a:t>
            </a:r>
          </a:p>
          <a:p>
            <a:r>
              <a:rPr lang="nb-NO" dirty="0"/>
              <a:t>Tellerverdien kan leses av manuelt, eller automatikk kan gjennomføres når den når visse verdier</a:t>
            </a: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4FA3E974-BCE0-8812-4B00-07F0EE4846D5}"/>
              </a:ext>
            </a:extLst>
          </p:cNvPr>
          <p:cNvGrpSpPr/>
          <p:nvPr/>
        </p:nvGrpSpPr>
        <p:grpSpPr>
          <a:xfrm>
            <a:off x="5647600" y="2853932"/>
            <a:ext cx="6308426" cy="1390157"/>
            <a:chOff x="5491868" y="2409683"/>
            <a:chExt cx="4625587" cy="1019318"/>
          </a:xfrm>
        </p:grpSpPr>
        <p:pic>
          <p:nvPicPr>
            <p:cNvPr id="5" name="Bilde 4">
              <a:extLst>
                <a:ext uri="{FF2B5EF4-FFF2-40B4-BE49-F238E27FC236}">
                  <a16:creationId xmlns:a16="http://schemas.microsoft.com/office/drawing/2014/main" id="{C7DEC46B-4835-4C82-E651-769E0045A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1868" y="2409683"/>
              <a:ext cx="3096057" cy="1019317"/>
            </a:xfrm>
            <a:prstGeom prst="rect">
              <a:avLst/>
            </a:prstGeom>
          </p:spPr>
        </p:pic>
        <p:pic>
          <p:nvPicPr>
            <p:cNvPr id="7" name="Bilde 6">
              <a:extLst>
                <a:ext uri="{FF2B5EF4-FFF2-40B4-BE49-F238E27FC236}">
                  <a16:creationId xmlns:a16="http://schemas.microsoft.com/office/drawing/2014/main" id="{B9EDD20D-FAC4-93DC-567C-8ED6B01EF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647" b="492"/>
            <a:stretch>
              <a:fillRect/>
            </a:stretch>
          </p:blipFill>
          <p:spPr>
            <a:xfrm>
              <a:off x="8587925" y="2409683"/>
              <a:ext cx="1529530" cy="10193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325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66B4FD7-2B0F-EF85-8C22-D719CF0B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Teller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59E690-B089-6306-B129-9385C388F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Betegnes som regel når registeret øker verdi ved gitte hendelser</a:t>
            </a:r>
          </a:p>
          <a:p>
            <a:r>
              <a:rPr lang="nb-NO" dirty="0"/>
              <a:t>Konfigureres gjennom </a:t>
            </a:r>
            <a:r>
              <a:rPr lang="nb-NO" dirty="0" err="1"/>
              <a:t>eventsystem</a:t>
            </a:r>
            <a:endParaRPr lang="nb-NO" dirty="0"/>
          </a:p>
          <a:p>
            <a:endParaRPr lang="nb-NO" dirty="0"/>
          </a:p>
          <a:p>
            <a:r>
              <a:rPr lang="nb-NO" dirty="0"/>
              <a:t>Eks. </a:t>
            </a:r>
          </a:p>
          <a:p>
            <a:pPr lvl="1"/>
            <a:r>
              <a:rPr lang="nb-NO" dirty="0"/>
              <a:t>Tell antall knappetrykk og utfør kommando etter 20 trykk</a:t>
            </a:r>
          </a:p>
        </p:txBody>
      </p:sp>
    </p:spTree>
    <p:extLst>
      <p:ext uri="{BB962C8B-B14F-4D97-AF65-F5344CB8AC3E}">
        <p14:creationId xmlns:p14="http://schemas.microsoft.com/office/powerpoint/2010/main" val="960884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D94A9E1-E6D9-1388-EE9E-B3052F57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D7B5FE9-127F-6C1B-B4CA-508C3446E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b-NO" dirty="0"/>
              <a:t>Teller per </a:t>
            </a:r>
            <a:r>
              <a:rPr lang="nb-NO" i="1" dirty="0"/>
              <a:t>n</a:t>
            </a:r>
            <a:r>
              <a:rPr lang="nb-NO" dirty="0"/>
              <a:t> klokkeslag</a:t>
            </a:r>
          </a:p>
          <a:p>
            <a:pPr>
              <a:lnSpc>
                <a:spcPct val="150000"/>
              </a:lnSpc>
            </a:pPr>
            <a:r>
              <a:rPr lang="nb-NO" dirty="0"/>
              <a:t>Egen klokke, skjer automatisk</a:t>
            </a:r>
          </a:p>
          <a:p>
            <a:pPr>
              <a:lnSpc>
                <a:spcPct val="150000"/>
              </a:lnSpc>
            </a:pPr>
            <a:r>
              <a:rPr lang="nb-NO" dirty="0"/>
              <a:t>Perioden settes i </a:t>
            </a:r>
            <a:r>
              <a:rPr lang="nb-NO" dirty="0" err="1"/>
              <a:t>TCAn.PER</a:t>
            </a:r>
            <a:r>
              <a:rPr lang="nb-NO" dirty="0"/>
              <a:t>-register</a:t>
            </a:r>
          </a:p>
          <a:p>
            <a:pPr lvl="1">
              <a:lnSpc>
                <a:spcPct val="150000"/>
              </a:lnSpc>
            </a:pPr>
            <a:r>
              <a:rPr lang="nb-NO" dirty="0" err="1"/>
              <a:t>Overflow</a:t>
            </a:r>
            <a:r>
              <a:rPr lang="nb-NO" dirty="0"/>
              <a:t>-vektor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64AD719D-FA67-8E85-B1F7-6890731244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61" b="5412"/>
          <a:stretch>
            <a:fillRect/>
          </a:stretch>
        </p:blipFill>
        <p:spPr>
          <a:xfrm>
            <a:off x="6646607" y="3248178"/>
            <a:ext cx="4471219" cy="27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42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FE61F01-F3B9-E489-C152-EC87895E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 – </a:t>
            </a:r>
            <a:r>
              <a:rPr lang="nb-NO" dirty="0" err="1"/>
              <a:t>Prescaler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F0EDD46-31C5-A483-9333-A2ADF625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074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nb-NO" dirty="0" err="1"/>
              <a:t>Timeren</a:t>
            </a:r>
            <a:r>
              <a:rPr lang="nb-NO" dirty="0"/>
              <a:t> teller opp per </a:t>
            </a:r>
            <a:r>
              <a:rPr lang="nb-NO" i="1"/>
              <a:t>n </a:t>
            </a:r>
            <a:r>
              <a:rPr lang="nb-NO"/>
              <a:t>klokkeslag</a:t>
            </a:r>
            <a:endParaRPr lang="nb-NO" dirty="0"/>
          </a:p>
          <a:p>
            <a:pPr>
              <a:lnSpc>
                <a:spcPct val="150000"/>
              </a:lnSpc>
            </a:pPr>
            <a:r>
              <a:rPr lang="nb-NO" dirty="0"/>
              <a:t>Lengre periode, lavere oppløsning</a:t>
            </a:r>
          </a:p>
          <a:p>
            <a:pPr>
              <a:lnSpc>
                <a:spcPct val="150000"/>
              </a:lnSpc>
            </a:pPr>
            <a:r>
              <a:rPr lang="nb-NO" dirty="0"/>
              <a:t>Flere </a:t>
            </a:r>
            <a:r>
              <a:rPr lang="nb-NO" dirty="0" err="1"/>
              <a:t>interrupts</a:t>
            </a:r>
            <a:r>
              <a:rPr lang="nb-NO" dirty="0"/>
              <a:t>, presis utføring av </a:t>
            </a:r>
            <a:br>
              <a:rPr lang="nb-NO" dirty="0"/>
            </a:br>
            <a:r>
              <a:rPr lang="nb-NO" dirty="0"/>
              <a:t>kommandoer</a:t>
            </a:r>
          </a:p>
          <a:p>
            <a:pPr>
              <a:lnSpc>
                <a:spcPct val="150000"/>
              </a:lnSpc>
            </a:pPr>
            <a:endParaRPr lang="nb-NO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90EFDC00-2492-CBB8-A819-FD4C2DFD4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4" y="1638250"/>
            <a:ext cx="5838254" cy="35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75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98906C0-2F7C-0A51-A561-A5AA0D9E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 – PWM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18FF9DF-2D0E-764E-13FB-4B2CEF6D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b-NO" dirty="0"/>
              <a:t>Pulsviddemodulering</a:t>
            </a:r>
          </a:p>
          <a:p>
            <a:pPr>
              <a:lnSpc>
                <a:spcPct val="150000"/>
              </a:lnSpc>
            </a:pPr>
            <a:r>
              <a:rPr lang="nb-NO" dirty="0"/>
              <a:t>Stiger jevnt fra 0 til </a:t>
            </a:r>
            <a:r>
              <a:rPr lang="nb-NO" dirty="0" err="1"/>
              <a:t>TCAn.PER</a:t>
            </a:r>
            <a:endParaRPr lang="nb-NO" dirty="0"/>
          </a:p>
          <a:p>
            <a:pPr>
              <a:lnSpc>
                <a:spcPct val="150000"/>
              </a:lnSpc>
            </a:pPr>
            <a:r>
              <a:rPr lang="nb-NO" dirty="0" err="1"/>
              <a:t>Utang</a:t>
            </a:r>
            <a:r>
              <a:rPr lang="nb-NO" dirty="0"/>
              <a:t> </a:t>
            </a:r>
            <a:r>
              <a:rPr lang="nb-NO" i="1" dirty="0"/>
              <a:t>n </a:t>
            </a:r>
            <a:r>
              <a:rPr lang="nb-NO" dirty="0"/>
              <a:t>høy når CNT under </a:t>
            </a:r>
            <a:r>
              <a:rPr lang="nb-NO" dirty="0" err="1"/>
              <a:t>CMPn</a:t>
            </a:r>
            <a:endParaRPr lang="nb-NO" dirty="0"/>
          </a:p>
          <a:p>
            <a:pPr>
              <a:lnSpc>
                <a:spcPct val="150000"/>
              </a:lnSpc>
            </a:pPr>
            <a:r>
              <a:rPr lang="nb-NO" dirty="0"/>
              <a:t>En PWM-utgang per CMP-kanal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Tilsvarende porter finnes i PORTSMUX-register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7A8E9690-892E-8383-B7D4-88FFA3810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"/>
          <a:stretch>
            <a:fillRect/>
          </a:stretch>
        </p:blipFill>
        <p:spPr>
          <a:xfrm>
            <a:off x="7777316" y="2378814"/>
            <a:ext cx="3664678" cy="317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58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D6A184-9804-EAB8-688A-69CADA22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E4D2DF3-11C8-2D1D-FDB3-61A3C0BF0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916" y="1825625"/>
            <a:ext cx="10515600" cy="4351338"/>
          </a:xfrm>
        </p:spPr>
        <p:txBody>
          <a:bodyPr/>
          <a:lstStyle/>
          <a:p>
            <a:r>
              <a:rPr lang="nb-NO" dirty="0"/>
              <a:t>Skru på timer</a:t>
            </a:r>
          </a:p>
          <a:p>
            <a:r>
              <a:rPr lang="nb-NO" dirty="0"/>
              <a:t>16/8-bit</a:t>
            </a:r>
          </a:p>
          <a:p>
            <a:r>
              <a:rPr lang="nb-NO" dirty="0" err="1"/>
              <a:t>Prescaler</a:t>
            </a:r>
            <a:endParaRPr lang="nb-NO" dirty="0"/>
          </a:p>
          <a:p>
            <a:r>
              <a:rPr lang="nb-NO" dirty="0"/>
              <a:t>Telleretning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FA891055-ED9C-4A82-6DE8-46BFED6C0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469668" cy="401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0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5F85-031F-AA0C-8C2B-694DDC62B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4F1C42-315E-2C50-EDB2-56EB639F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4D1BD30-AF1E-E742-CDF1-D42B98980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nb-NO" dirty="0"/>
              <a:t>Bølgegenerering?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623806C4-D616-7263-E761-B74E116FF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920" y="1690688"/>
            <a:ext cx="6151880" cy="33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46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4D379-E6B1-C230-27F8-193F04EF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B4FA5F5-A313-EB92-3CA5-1F1BE936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7CA52B4-33CF-A76D-DD19-1ED7D65D3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nb-NO" dirty="0"/>
              <a:t>Skru på </a:t>
            </a:r>
            <a:r>
              <a:rPr lang="nb-NO" dirty="0" err="1"/>
              <a:t>CMPn</a:t>
            </a:r>
            <a:r>
              <a:rPr lang="nb-NO" dirty="0"/>
              <a:t>-kanal</a:t>
            </a:r>
          </a:p>
          <a:p>
            <a:r>
              <a:rPr lang="nb-NO" dirty="0"/>
              <a:t>Still inn </a:t>
            </a:r>
            <a:r>
              <a:rPr lang="nb-NO" dirty="0" err="1"/>
              <a:t>CMPn</a:t>
            </a:r>
            <a:r>
              <a:rPr lang="nb-NO" dirty="0"/>
              <a:t>-verdi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0340373F-90E7-71E3-98C6-3B9E21AA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705" y="1690688"/>
            <a:ext cx="6791632" cy="41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0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52D7-27D7-65E0-D569-BDDA71816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831986-CBBE-8C8D-4CD5-03320C4A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B69EC3-93B2-4921-E6C4-CE5665916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916" y="1825625"/>
            <a:ext cx="10515600" cy="4351338"/>
          </a:xfrm>
        </p:spPr>
        <p:txBody>
          <a:bodyPr/>
          <a:lstStyle/>
          <a:p>
            <a:r>
              <a:rPr lang="nb-NO" dirty="0"/>
              <a:t>Skru på </a:t>
            </a:r>
            <a:r>
              <a:rPr lang="nb-NO" dirty="0" err="1"/>
              <a:t>interrupts</a:t>
            </a:r>
            <a:endParaRPr lang="nb-NO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B68A7E19-B4EA-F2F3-2939-C812FCF0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1" y="1690688"/>
            <a:ext cx="6070705" cy="379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35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3383AEA-FF9E-C04B-80BD-88550C84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Timer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960806-D520-8434-F093-AF93D3D8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Utgang velges i pin-grid </a:t>
            </a:r>
            <a:r>
              <a:rPr lang="nb-NO" dirty="0" err="1"/>
              <a:t>view</a:t>
            </a:r>
            <a:endParaRPr lang="nb-NO" dirty="0"/>
          </a:p>
          <a:p>
            <a:pPr lvl="1"/>
            <a:r>
              <a:rPr lang="nb-NO" dirty="0" err="1"/>
              <a:t>WOn</a:t>
            </a:r>
            <a:r>
              <a:rPr lang="nb-NO" dirty="0"/>
              <a:t> tilsvarer </a:t>
            </a:r>
            <a:r>
              <a:rPr lang="nb-NO" dirty="0" err="1"/>
              <a:t>CMPn</a:t>
            </a:r>
            <a:endParaRPr lang="nb-NO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6445B4DB-DD12-2FFD-90CC-57BAAF2C6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671"/>
          <a:stretch>
            <a:fillRect/>
          </a:stretch>
        </p:blipFill>
        <p:spPr>
          <a:xfrm>
            <a:off x="411480" y="3265153"/>
            <a:ext cx="10832612" cy="205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9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9114275-8F53-5A5B-0B26-723B5F42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USART/UART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D304FCB-FCE3-5BD9-D7F2-4E5117B93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Universal (</a:t>
            </a:r>
            <a:r>
              <a:rPr lang="nb-NO" dirty="0" err="1"/>
              <a:t>Synchronous</a:t>
            </a:r>
            <a:r>
              <a:rPr lang="nb-NO" dirty="0"/>
              <a:t>/)</a:t>
            </a:r>
            <a:r>
              <a:rPr lang="nb-NO" dirty="0" err="1"/>
              <a:t>Asynchronous</a:t>
            </a:r>
            <a:r>
              <a:rPr lang="nb-NO" dirty="0"/>
              <a:t> </a:t>
            </a:r>
            <a:r>
              <a:rPr lang="nb-NO" dirty="0" err="1"/>
              <a:t>Reciever</a:t>
            </a:r>
            <a:r>
              <a:rPr lang="nb-NO" dirty="0"/>
              <a:t>-Transmitter</a:t>
            </a:r>
          </a:p>
          <a:p>
            <a:r>
              <a:rPr lang="nb-NO" dirty="0"/>
              <a:t>Seriell kommunikasjonsprotokoll</a:t>
            </a:r>
          </a:p>
          <a:p>
            <a:r>
              <a:rPr lang="nb-NO" dirty="0"/>
              <a:t>Rx og </a:t>
            </a:r>
            <a:r>
              <a:rPr lang="nb-NO" dirty="0" err="1"/>
              <a:t>Tx</a:t>
            </a:r>
            <a:r>
              <a:rPr lang="nb-NO" dirty="0"/>
              <a:t> (Full Duplex) eller én leder(Halv Duplex)</a:t>
            </a:r>
          </a:p>
          <a:p>
            <a:r>
              <a:rPr lang="nb-NO" dirty="0"/>
              <a:t>Forhåndsgitt baud</a:t>
            </a:r>
          </a:p>
          <a:p>
            <a:pPr lvl="1"/>
            <a:r>
              <a:rPr lang="nb-NO" dirty="0"/>
              <a:t>Baud = bits/sekund</a:t>
            </a:r>
          </a:p>
          <a:p>
            <a:pPr lvl="1"/>
            <a:endParaRPr lang="nb-NO" dirty="0"/>
          </a:p>
          <a:p>
            <a:r>
              <a:rPr lang="nb-NO" dirty="0"/>
              <a:t>Sende informasjon til </a:t>
            </a:r>
            <a:r>
              <a:rPr lang="nb-NO" dirty="0" err="1"/>
              <a:t>bl.a</a:t>
            </a:r>
            <a:r>
              <a:rPr lang="nb-NO" dirty="0"/>
              <a:t> PC</a:t>
            </a:r>
          </a:p>
        </p:txBody>
      </p:sp>
    </p:spTree>
    <p:extLst>
      <p:ext uri="{BB962C8B-B14F-4D97-AF65-F5344CB8AC3E}">
        <p14:creationId xmlns:p14="http://schemas.microsoft.com/office/powerpoint/2010/main" val="979311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97C9A48-C326-49F7-402D-5861F5BB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USART for feilsøking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F224AE8-A97E-2E60-9D81-6FC5DA09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nb-NO" dirty="0"/>
              <a:t>Skrive data til seriell monitor på PC</a:t>
            </a:r>
          </a:p>
          <a:p>
            <a:pPr>
              <a:lnSpc>
                <a:spcPct val="100000"/>
              </a:lnSpc>
            </a:pPr>
            <a:r>
              <a:rPr lang="nb-NO" dirty="0"/>
              <a:t>VIKTIG: USART3-dependency</a:t>
            </a:r>
          </a:p>
          <a:p>
            <a:pPr lvl="1">
              <a:lnSpc>
                <a:spcPct val="100000"/>
              </a:lnSpc>
            </a:pPr>
            <a:r>
              <a:rPr lang="nb-NO" dirty="0"/>
              <a:t>Den som er koblet til USB</a:t>
            </a:r>
          </a:p>
          <a:p>
            <a:pPr lvl="1">
              <a:lnSpc>
                <a:spcPct val="100000"/>
              </a:lnSpc>
            </a:pPr>
            <a:r>
              <a:rPr lang="nb-NO" dirty="0"/>
              <a:t>Vises i </a:t>
            </a:r>
            <a:r>
              <a:rPr lang="nb-NO" dirty="0" err="1"/>
              <a:t>CNano</a:t>
            </a:r>
            <a:r>
              <a:rPr lang="nb-NO" dirty="0"/>
              <a:t> </a:t>
            </a:r>
            <a:r>
              <a:rPr lang="nb-NO" dirty="0" err="1"/>
              <a:t>Schematic</a:t>
            </a:r>
            <a:endParaRPr lang="nb-NO" dirty="0"/>
          </a:p>
          <a:p>
            <a:pPr>
              <a:lnSpc>
                <a:spcPct val="150000"/>
              </a:lnSpc>
            </a:pPr>
            <a:r>
              <a:rPr lang="nb-NO" dirty="0"/>
              <a:t>MCC innebygde drivere, </a:t>
            </a:r>
            <a:r>
              <a:rPr lang="nb-NO" dirty="0" err="1"/>
              <a:t>printf</a:t>
            </a:r>
            <a:r>
              <a:rPr lang="nb-NO" dirty="0"/>
              <a:t>()</a:t>
            </a:r>
          </a:p>
          <a:p>
            <a:pPr>
              <a:lnSpc>
                <a:spcPct val="110000"/>
              </a:lnSpc>
            </a:pPr>
            <a:r>
              <a:rPr lang="nb-NO" dirty="0"/>
              <a:t>Motta på PC</a:t>
            </a:r>
          </a:p>
          <a:p>
            <a:pPr lvl="1">
              <a:lnSpc>
                <a:spcPct val="110000"/>
              </a:lnSpc>
            </a:pPr>
            <a:r>
              <a:rPr lang="nb-NO" dirty="0"/>
              <a:t>MPLAB Data visualizer</a:t>
            </a:r>
          </a:p>
          <a:p>
            <a:pPr lvl="1">
              <a:lnSpc>
                <a:spcPct val="110000"/>
              </a:lnSpc>
            </a:pPr>
            <a:r>
              <a:rPr lang="nb-NO" dirty="0" err="1"/>
              <a:t>VScode</a:t>
            </a:r>
            <a:r>
              <a:rPr lang="nb-NO" dirty="0"/>
              <a:t> Serial Terminal utvidelse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DBC9A3B3-CF8F-7818-3310-CC0E90AE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65"/>
          <a:stretch>
            <a:fillRect/>
          </a:stretch>
        </p:blipFill>
        <p:spPr>
          <a:xfrm>
            <a:off x="6605549" y="1158413"/>
            <a:ext cx="5370141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82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4A283F6-D128-F6EF-5EC3-40C90E6E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UART til PC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641E47C-3839-A3EE-38FC-F3E51E737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Legg til UART-komponent</a:t>
            </a:r>
          </a:p>
          <a:p>
            <a:r>
              <a:rPr lang="nb-NO" dirty="0"/>
              <a:t>Tips: UART </a:t>
            </a:r>
            <a:r>
              <a:rPr lang="nb-NO" dirty="0" err="1"/>
              <a:t>Example</a:t>
            </a:r>
            <a:r>
              <a:rPr lang="nb-NO" dirty="0"/>
              <a:t> er en god ressurs for oppsett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DEA51BD4-B0AA-E2E8-4E32-70497268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511040"/>
            <a:ext cx="10504595" cy="207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F1CB-6CA1-93F7-867E-6A5E1A6B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B95F1EE-0630-9964-23CC-D148C7E0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UART til PC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737BF37-5650-B542-0612-1C4ABD29A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VIKTIG: Velg UART3</a:t>
            </a:r>
          </a:p>
          <a:p>
            <a:r>
              <a:rPr lang="nb-NO" dirty="0"/>
              <a:t>TX og RX, PB0 og 1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68918AEB-EC8A-C598-4937-DC6280CEE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825625"/>
            <a:ext cx="7191050" cy="2514568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D5197CC5-DD6E-4858-AC62-F3C9B0338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857" y="4730504"/>
            <a:ext cx="7173326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4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CD74-BB3B-0BB0-3BEE-C4582501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F6FF5A-B5B5-6269-02C7-8577186B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UART til PC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992EC0A-B948-A06C-E62D-C59040E0E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Velg Baud</a:t>
            </a:r>
          </a:p>
          <a:p>
            <a:pPr lvl="1"/>
            <a:r>
              <a:rPr lang="nb-NO" dirty="0"/>
              <a:t>9600 og 115200 er vanlig</a:t>
            </a:r>
          </a:p>
          <a:p>
            <a:r>
              <a:rPr lang="nb-NO" dirty="0" err="1"/>
              <a:t>Datalengde</a:t>
            </a:r>
            <a:endParaRPr lang="nb-NO" dirty="0"/>
          </a:p>
          <a:p>
            <a:r>
              <a:rPr lang="nb-NO" dirty="0" err="1"/>
              <a:t>Parity</a:t>
            </a:r>
            <a:endParaRPr lang="nb-NO" dirty="0"/>
          </a:p>
          <a:p>
            <a:endParaRPr lang="nb-NO" dirty="0"/>
          </a:p>
          <a:p>
            <a:r>
              <a:rPr lang="nb-NO" dirty="0" err="1"/>
              <a:t>Printf</a:t>
            </a:r>
            <a:r>
              <a:rPr lang="nb-NO" dirty="0"/>
              <a:t> to UART forenkler sending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A7ED3138-F083-C396-1545-9A64BA582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487" y="1504783"/>
            <a:ext cx="4607418" cy="467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8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565</Words>
  <Application>Microsoft Office PowerPoint</Application>
  <PresentationFormat>Widescreen</PresentationFormat>
  <Paragraphs>133</Paragraphs>
  <Slides>29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Office-tema</vt:lpstr>
      <vt:lpstr>AVR-kurs dag to</vt:lpstr>
      <vt:lpstr>Dagens plan</vt:lpstr>
      <vt:lpstr>Interrupts</vt:lpstr>
      <vt:lpstr>Interrupt vektor</vt:lpstr>
      <vt:lpstr>Interrupt vektor – Eksempel</vt:lpstr>
      <vt:lpstr>Aktivering - MCC</vt:lpstr>
      <vt:lpstr>Aktivering - Kode</vt:lpstr>
      <vt:lpstr>Analog til Digital omformer</vt:lpstr>
      <vt:lpstr>Virkemåte</vt:lpstr>
      <vt:lpstr>Konfigurering - MCC</vt:lpstr>
      <vt:lpstr>Konfigurering - MCC</vt:lpstr>
      <vt:lpstr>Konfigurering - MCC</vt:lpstr>
      <vt:lpstr>Konfigurering - MCC</vt:lpstr>
      <vt:lpstr>Kode</vt:lpstr>
      <vt:lpstr>Teller/Timer</vt:lpstr>
      <vt:lpstr>Teller</vt:lpstr>
      <vt:lpstr>Timer</vt:lpstr>
      <vt:lpstr>Timer – Prescaler</vt:lpstr>
      <vt:lpstr>Timer – PWM</vt:lpstr>
      <vt:lpstr>Timer</vt:lpstr>
      <vt:lpstr>Timer</vt:lpstr>
      <vt:lpstr>Timer</vt:lpstr>
      <vt:lpstr>Timer</vt:lpstr>
      <vt:lpstr>Timer</vt:lpstr>
      <vt:lpstr>USART/UART</vt:lpstr>
      <vt:lpstr>USART for feilsøking</vt:lpstr>
      <vt:lpstr>UART til PC</vt:lpstr>
      <vt:lpstr>UART til PC</vt:lpstr>
      <vt:lpstr>UART til PC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Torbjørn Gorsetbakk</dc:creator>
  <cp:lastModifiedBy>Torbjørn Gorsetbakk</cp:lastModifiedBy>
  <cp:revision>21</cp:revision>
  <dcterms:created xsi:type="dcterms:W3CDTF">2026-03-13T10:10:09Z</dcterms:created>
  <dcterms:modified xsi:type="dcterms:W3CDTF">2026-03-15T22:28:17Z</dcterms:modified>
</cp:coreProperties>
</file>
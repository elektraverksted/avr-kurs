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7" r:id="rId6"/>
    <p:sldId id="268" r:id="rId7"/>
    <p:sldId id="269" r:id="rId8"/>
    <p:sldId id="270" r:id="rId9"/>
    <p:sldId id="271" r:id="rId10"/>
    <p:sldId id="272" r:id="rId11"/>
    <p:sldId id="273" r:id="rId12"/>
    <p:sldId id="274" r:id="rId13"/>
    <p:sldId id="275" r:id="rId14"/>
    <p:sldId id="276" r:id="rId15"/>
    <p:sldId id="277" r:id="rId16"/>
    <p:sldId id="278" r:id="rId17"/>
    <p:sldId id="279" r:id="rId18"/>
    <p:sldId id="281" r:id="rId19"/>
    <p:sldId id="280" r:id="rId20"/>
    <p:sldId id="282" r:id="rId21"/>
  </p:sldIdLst>
  <p:sldSz cx="12192000" cy="6858000"/>
  <p:notesSz cx="6858000" cy="9144000"/>
  <p:defaultTextStyle>
    <a:defPPr>
      <a:defRPr lang="nb-N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tellysbil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7328C324-AC5C-B10B-9AEF-8E2FD0C3DF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b-NO"/>
              <a:t>Klikk for å redigere tittelstil</a:t>
            </a:r>
          </a:p>
        </p:txBody>
      </p:sp>
      <p:sp>
        <p:nvSpPr>
          <p:cNvPr id="3" name="Undertittel 2">
            <a:extLst>
              <a:ext uri="{FF2B5EF4-FFF2-40B4-BE49-F238E27FC236}">
                <a16:creationId xmlns:a16="http://schemas.microsoft.com/office/drawing/2014/main" id="{A855BF22-FD97-A233-3776-62F894F419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b-NO"/>
              <a:t>Klikk for å redigere undertittelstil i malen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423173B1-A4EF-3409-D542-7F8532B583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D588E3-7146-4465-86D4-0FCCB25395CD}" type="datetimeFigureOut">
              <a:rPr lang="nb-NO" smtClean="0"/>
              <a:t>22.03.2026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AB59C40C-CAD3-70D6-ED80-CDF02DC053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B502FB1E-E4EF-C7D4-1405-F1DC29164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8894EC-7C37-4455-A308-914DDECA429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8969807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tel og innh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AAD56148-5231-C42E-57FC-6E6ED9616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4F57587F-5C85-9215-81BD-C129E76E82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11DE74C9-0BEB-6638-7DAA-A72CD3C73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D588E3-7146-4465-86D4-0FCCB25395CD}" type="datetimeFigureOut">
              <a:rPr lang="nb-NO" smtClean="0"/>
              <a:t>22.03.2026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F4966DFB-A257-0907-B557-01275595D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09AB4A92-B0AD-9062-EB8C-546869326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8894EC-7C37-4455-A308-914DDECA429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868656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Del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C8EA0D96-86A0-7F62-9747-D7189E5460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tekst 2">
            <a:extLst>
              <a:ext uri="{FF2B5EF4-FFF2-40B4-BE49-F238E27FC236}">
                <a16:creationId xmlns:a16="http://schemas.microsoft.com/office/drawing/2014/main" id="{1461E94F-E9EA-A146-9D3B-0AAABBEB3A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987A50D2-C532-DE8C-DF46-92F2904AB4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D588E3-7146-4465-86D4-0FCCB25395CD}" type="datetimeFigureOut">
              <a:rPr lang="nb-NO" smtClean="0"/>
              <a:t>22.03.2026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163BD5DD-81CF-8F7D-9BCB-1F36410E94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1AC446C3-7BD4-5F74-E6C7-3DAF3EC7B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8894EC-7C37-4455-A308-914DDECA429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8483009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nholdsdel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0B36B5FC-9FA0-845C-3B36-1271F913A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D0C251F6-C2C4-D894-3937-CFB0264AEE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innhold 3">
            <a:extLst>
              <a:ext uri="{FF2B5EF4-FFF2-40B4-BE49-F238E27FC236}">
                <a16:creationId xmlns:a16="http://schemas.microsoft.com/office/drawing/2014/main" id="{E15EE7E4-C50B-5857-2F3F-B0A8E1BD53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5" name="Plassholder for dato 4">
            <a:extLst>
              <a:ext uri="{FF2B5EF4-FFF2-40B4-BE49-F238E27FC236}">
                <a16:creationId xmlns:a16="http://schemas.microsoft.com/office/drawing/2014/main" id="{5090E80C-8223-D8D7-E1DB-89F468A22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D588E3-7146-4465-86D4-0FCCB25395CD}" type="datetimeFigureOut">
              <a:rPr lang="nb-NO" smtClean="0"/>
              <a:t>22.03.2026</a:t>
            </a:fld>
            <a:endParaRPr lang="nb-NO"/>
          </a:p>
        </p:txBody>
      </p:sp>
      <p:sp>
        <p:nvSpPr>
          <p:cNvPr id="6" name="Plassholder for bunntekst 5">
            <a:extLst>
              <a:ext uri="{FF2B5EF4-FFF2-40B4-BE49-F238E27FC236}">
                <a16:creationId xmlns:a16="http://schemas.microsoft.com/office/drawing/2014/main" id="{2A3905A7-D65B-24F8-2204-28B90BB39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Plassholder for lysbildenummer 6">
            <a:extLst>
              <a:ext uri="{FF2B5EF4-FFF2-40B4-BE49-F238E27FC236}">
                <a16:creationId xmlns:a16="http://schemas.microsoft.com/office/drawing/2014/main" id="{182DD7EF-C4D6-C61F-95DB-8A97DB6BFA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8894EC-7C37-4455-A308-914DDECA429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40866810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63DF992A-D618-5382-7430-F202380D97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tekst 2">
            <a:extLst>
              <a:ext uri="{FF2B5EF4-FFF2-40B4-BE49-F238E27FC236}">
                <a16:creationId xmlns:a16="http://schemas.microsoft.com/office/drawing/2014/main" id="{8713EE4B-2380-5E79-BB6F-59A87260CB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4" name="Plassholder for innhold 3">
            <a:extLst>
              <a:ext uri="{FF2B5EF4-FFF2-40B4-BE49-F238E27FC236}">
                <a16:creationId xmlns:a16="http://schemas.microsoft.com/office/drawing/2014/main" id="{473858E3-CD84-A1FC-45EC-A0ED83C8D6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5" name="Plassholder for tekst 4">
            <a:extLst>
              <a:ext uri="{FF2B5EF4-FFF2-40B4-BE49-F238E27FC236}">
                <a16:creationId xmlns:a16="http://schemas.microsoft.com/office/drawing/2014/main" id="{30F2A85A-4838-DC4A-AE4B-F398814D5D3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6" name="Plassholder for innhold 5">
            <a:extLst>
              <a:ext uri="{FF2B5EF4-FFF2-40B4-BE49-F238E27FC236}">
                <a16:creationId xmlns:a16="http://schemas.microsoft.com/office/drawing/2014/main" id="{264F3868-70BA-1F17-DFB5-9C099BB9066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7" name="Plassholder for dato 6">
            <a:extLst>
              <a:ext uri="{FF2B5EF4-FFF2-40B4-BE49-F238E27FC236}">
                <a16:creationId xmlns:a16="http://schemas.microsoft.com/office/drawing/2014/main" id="{43F1CEDD-D103-AF90-20E6-357FF77F39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D588E3-7146-4465-86D4-0FCCB25395CD}" type="datetimeFigureOut">
              <a:rPr lang="nb-NO" smtClean="0"/>
              <a:t>22.03.2026</a:t>
            </a:fld>
            <a:endParaRPr lang="nb-NO"/>
          </a:p>
        </p:txBody>
      </p:sp>
      <p:sp>
        <p:nvSpPr>
          <p:cNvPr id="8" name="Plassholder for bunntekst 7">
            <a:extLst>
              <a:ext uri="{FF2B5EF4-FFF2-40B4-BE49-F238E27FC236}">
                <a16:creationId xmlns:a16="http://schemas.microsoft.com/office/drawing/2014/main" id="{3A7A1E09-B6A0-E46F-8DE9-3A851F3A8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9" name="Plassholder for lysbildenummer 8">
            <a:extLst>
              <a:ext uri="{FF2B5EF4-FFF2-40B4-BE49-F238E27FC236}">
                <a16:creationId xmlns:a16="http://schemas.microsoft.com/office/drawing/2014/main" id="{E530EB7E-5241-E60F-1C38-D4CF85E1AE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8894EC-7C37-4455-A308-914DDECA429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4677449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Bare tit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EB97A61E-7759-A22B-75C7-5A420AD715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dato 2">
            <a:extLst>
              <a:ext uri="{FF2B5EF4-FFF2-40B4-BE49-F238E27FC236}">
                <a16:creationId xmlns:a16="http://schemas.microsoft.com/office/drawing/2014/main" id="{BD70ED86-B827-AF13-2D48-0FEFD01621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D588E3-7146-4465-86D4-0FCCB25395CD}" type="datetimeFigureOut">
              <a:rPr lang="nb-NO" smtClean="0"/>
              <a:t>22.03.2026</a:t>
            </a:fld>
            <a:endParaRPr lang="nb-NO"/>
          </a:p>
        </p:txBody>
      </p:sp>
      <p:sp>
        <p:nvSpPr>
          <p:cNvPr id="4" name="Plassholder for bunntekst 3">
            <a:extLst>
              <a:ext uri="{FF2B5EF4-FFF2-40B4-BE49-F238E27FC236}">
                <a16:creationId xmlns:a16="http://schemas.microsoft.com/office/drawing/2014/main" id="{D17A07D8-9511-BE81-33B5-B0CCABC9CE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5" name="Plassholder for lysbildenummer 4">
            <a:extLst>
              <a:ext uri="{FF2B5EF4-FFF2-40B4-BE49-F238E27FC236}">
                <a16:creationId xmlns:a16="http://schemas.microsoft.com/office/drawing/2014/main" id="{C575758A-E2F2-51C6-88B9-1EFFFEC12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8894EC-7C37-4455-A308-914DDECA429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9066332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dato 1">
            <a:extLst>
              <a:ext uri="{FF2B5EF4-FFF2-40B4-BE49-F238E27FC236}">
                <a16:creationId xmlns:a16="http://schemas.microsoft.com/office/drawing/2014/main" id="{80859D35-D7B9-B80D-422B-72855B39B4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D588E3-7146-4465-86D4-0FCCB25395CD}" type="datetimeFigureOut">
              <a:rPr lang="nb-NO" smtClean="0"/>
              <a:t>22.03.2026</a:t>
            </a:fld>
            <a:endParaRPr lang="nb-NO"/>
          </a:p>
        </p:txBody>
      </p:sp>
      <p:sp>
        <p:nvSpPr>
          <p:cNvPr id="3" name="Plassholder for bunntekst 2">
            <a:extLst>
              <a:ext uri="{FF2B5EF4-FFF2-40B4-BE49-F238E27FC236}">
                <a16:creationId xmlns:a16="http://schemas.microsoft.com/office/drawing/2014/main" id="{2DE408EC-68B8-9677-CF1F-46759276D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4" name="Plassholder for lysbildenummer 3">
            <a:extLst>
              <a:ext uri="{FF2B5EF4-FFF2-40B4-BE49-F238E27FC236}">
                <a16:creationId xmlns:a16="http://schemas.microsoft.com/office/drawing/2014/main" id="{3018CE9C-7368-7CF5-482D-CC1E557816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8894EC-7C37-4455-A308-914DDECA429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999687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nhold med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2CBC647A-5D58-833D-BB2A-35AB504FAB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51545F93-CC50-E6AC-59BB-E670B92872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tekst 3">
            <a:extLst>
              <a:ext uri="{FF2B5EF4-FFF2-40B4-BE49-F238E27FC236}">
                <a16:creationId xmlns:a16="http://schemas.microsoft.com/office/drawing/2014/main" id="{AE5D55A6-F761-BCB3-1B97-B81DF8C410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5" name="Plassholder for dato 4">
            <a:extLst>
              <a:ext uri="{FF2B5EF4-FFF2-40B4-BE49-F238E27FC236}">
                <a16:creationId xmlns:a16="http://schemas.microsoft.com/office/drawing/2014/main" id="{5017AA7E-93AE-FD20-ABF8-F276AF1D03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D588E3-7146-4465-86D4-0FCCB25395CD}" type="datetimeFigureOut">
              <a:rPr lang="nb-NO" smtClean="0"/>
              <a:t>22.03.2026</a:t>
            </a:fld>
            <a:endParaRPr lang="nb-NO"/>
          </a:p>
        </p:txBody>
      </p:sp>
      <p:sp>
        <p:nvSpPr>
          <p:cNvPr id="6" name="Plassholder for bunntekst 5">
            <a:extLst>
              <a:ext uri="{FF2B5EF4-FFF2-40B4-BE49-F238E27FC236}">
                <a16:creationId xmlns:a16="http://schemas.microsoft.com/office/drawing/2014/main" id="{A55F71F3-6FBA-37B4-EA30-7460871A2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Plassholder for lysbildenummer 6">
            <a:extLst>
              <a:ext uri="{FF2B5EF4-FFF2-40B4-BE49-F238E27FC236}">
                <a16:creationId xmlns:a16="http://schemas.microsoft.com/office/drawing/2014/main" id="{BAD526F7-BEAA-EBC2-60AD-3A8F693C2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8894EC-7C37-4455-A308-914DDECA429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1744111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e med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E748E0E5-16B0-B9B3-0202-6EB33665D1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bilde 2">
            <a:extLst>
              <a:ext uri="{FF2B5EF4-FFF2-40B4-BE49-F238E27FC236}">
                <a16:creationId xmlns:a16="http://schemas.microsoft.com/office/drawing/2014/main" id="{8CAA6758-A81D-BF8A-0AF1-EE07219152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b-NO"/>
          </a:p>
        </p:txBody>
      </p:sp>
      <p:sp>
        <p:nvSpPr>
          <p:cNvPr id="4" name="Plassholder for tekst 3">
            <a:extLst>
              <a:ext uri="{FF2B5EF4-FFF2-40B4-BE49-F238E27FC236}">
                <a16:creationId xmlns:a16="http://schemas.microsoft.com/office/drawing/2014/main" id="{C3338455-9B06-19E9-E733-BD55E333B3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5" name="Plassholder for dato 4">
            <a:extLst>
              <a:ext uri="{FF2B5EF4-FFF2-40B4-BE49-F238E27FC236}">
                <a16:creationId xmlns:a16="http://schemas.microsoft.com/office/drawing/2014/main" id="{D1795977-934A-7DB5-54A0-B42FE125D1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D588E3-7146-4465-86D4-0FCCB25395CD}" type="datetimeFigureOut">
              <a:rPr lang="nb-NO" smtClean="0"/>
              <a:t>22.03.2026</a:t>
            </a:fld>
            <a:endParaRPr lang="nb-NO"/>
          </a:p>
        </p:txBody>
      </p:sp>
      <p:sp>
        <p:nvSpPr>
          <p:cNvPr id="6" name="Plassholder for bunntekst 5">
            <a:extLst>
              <a:ext uri="{FF2B5EF4-FFF2-40B4-BE49-F238E27FC236}">
                <a16:creationId xmlns:a16="http://schemas.microsoft.com/office/drawing/2014/main" id="{7789F5EC-82DB-B822-A9B8-EF119CF9EA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Plassholder for lysbildenummer 6">
            <a:extLst>
              <a:ext uri="{FF2B5EF4-FFF2-40B4-BE49-F238E27FC236}">
                <a16:creationId xmlns:a16="http://schemas.microsoft.com/office/drawing/2014/main" id="{52A3BD72-6958-C4FA-980C-457C0DB92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8894EC-7C37-4455-A308-914DDECA429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8932693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Loddret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D8DC99C1-3890-60A0-4B0B-CB87B6171C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loddrett tekst 2">
            <a:extLst>
              <a:ext uri="{FF2B5EF4-FFF2-40B4-BE49-F238E27FC236}">
                <a16:creationId xmlns:a16="http://schemas.microsoft.com/office/drawing/2014/main" id="{526B5D99-CA3C-EFE5-BF46-BB395B51DC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7E0374FC-8EDB-FA8B-5C10-5E729BCC4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D588E3-7146-4465-86D4-0FCCB25395CD}" type="datetimeFigureOut">
              <a:rPr lang="nb-NO" smtClean="0"/>
              <a:t>22.03.2026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86B9D77B-36B3-710B-9FA6-4A62445058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5860C0E9-0433-E8DE-10FD-D1B0534771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8894EC-7C37-4455-A308-914DDECA429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40935344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drett tit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ddrett tittel 1">
            <a:extLst>
              <a:ext uri="{FF2B5EF4-FFF2-40B4-BE49-F238E27FC236}">
                <a16:creationId xmlns:a16="http://schemas.microsoft.com/office/drawing/2014/main" id="{C0044EAB-1A5A-AED0-D49F-49FB2B86B02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loddrett tekst 2">
            <a:extLst>
              <a:ext uri="{FF2B5EF4-FFF2-40B4-BE49-F238E27FC236}">
                <a16:creationId xmlns:a16="http://schemas.microsoft.com/office/drawing/2014/main" id="{C6FA92BD-BF6E-9F72-2643-9A0F04E1FB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9A5A106A-D864-485A-F85B-67955B1C7A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D588E3-7146-4465-86D4-0FCCB25395CD}" type="datetimeFigureOut">
              <a:rPr lang="nb-NO" smtClean="0"/>
              <a:t>22.03.2026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A995E89D-4E2B-8A92-D432-1E99B88DA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53C0B6C9-C13A-C52D-D7AC-C097058E6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8894EC-7C37-4455-A308-914DDECA429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0255232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tittel 1">
            <a:extLst>
              <a:ext uri="{FF2B5EF4-FFF2-40B4-BE49-F238E27FC236}">
                <a16:creationId xmlns:a16="http://schemas.microsoft.com/office/drawing/2014/main" id="{A304A42E-218A-BC2F-75C5-1941F2431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tekst 2">
            <a:extLst>
              <a:ext uri="{FF2B5EF4-FFF2-40B4-BE49-F238E27FC236}">
                <a16:creationId xmlns:a16="http://schemas.microsoft.com/office/drawing/2014/main" id="{6DAA2959-3B28-1A17-AD0E-E3E9226F39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571388E3-163E-988E-8976-07DB6B28FF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D588E3-7146-4465-86D4-0FCCB25395CD}" type="datetimeFigureOut">
              <a:rPr lang="nb-NO" smtClean="0"/>
              <a:t>22.03.2026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CE780A3A-24A4-0224-11F1-376A16AFFA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23C2E03E-7557-B5FA-1D0E-4E58DD5AF3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A8894EC-7C37-4455-A308-914DDECA429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8692293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b-N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Serial_Peripheral_Interface" TargetMode="External"/><Relationship Id="rId2" Type="http://schemas.openxmlformats.org/officeDocument/2006/relationships/image" Target="../media/image5.gi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F90093E8-0B47-C0DA-EE73-FBF65CE8B3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53141"/>
            <a:ext cx="9144000" cy="1101060"/>
          </a:xfrm>
        </p:spPr>
        <p:txBody>
          <a:bodyPr/>
          <a:lstStyle/>
          <a:p>
            <a:r>
              <a:rPr lang="nb-NO" b="1" dirty="0"/>
              <a:t>AVR-kurs dag tre</a:t>
            </a:r>
          </a:p>
        </p:txBody>
      </p:sp>
      <p:sp>
        <p:nvSpPr>
          <p:cNvPr id="3" name="Undertittel 2">
            <a:extLst>
              <a:ext uri="{FF2B5EF4-FFF2-40B4-BE49-F238E27FC236}">
                <a16:creationId xmlns:a16="http://schemas.microsoft.com/office/drawing/2014/main" id="{B6FB23C2-ECF6-587A-5653-3D306E7CE9D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nb-NO" dirty="0"/>
          </a:p>
        </p:txBody>
      </p:sp>
      <p:pic>
        <p:nvPicPr>
          <p:cNvPr id="1026" name="Picture 2" descr="Microchip | IAR">
            <a:extLst>
              <a:ext uri="{FF2B5EF4-FFF2-40B4-BE49-F238E27FC236}">
                <a16:creationId xmlns:a16="http://schemas.microsoft.com/office/drawing/2014/main" id="{3D7B7D23-9DCA-4009-1B2A-32ABDBC654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572" y="4090774"/>
            <a:ext cx="8224929" cy="24065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Bilde 4">
            <a:extLst>
              <a:ext uri="{FF2B5EF4-FFF2-40B4-BE49-F238E27FC236}">
                <a16:creationId xmlns:a16="http://schemas.microsoft.com/office/drawing/2014/main" id="{58B82D83-3BE2-96A2-55D8-90E8866DD2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48929" y="4239397"/>
            <a:ext cx="2036806" cy="2036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67936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6BD3F796-FB5D-62AF-224C-28144036F1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Dagsplan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E5B61BF-59B1-8E25-8B55-F97AD55FEA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dirty="0"/>
              <a:t>Kommunikasjonsprotokoller</a:t>
            </a:r>
          </a:p>
          <a:p>
            <a:pPr lvl="1"/>
            <a:r>
              <a:rPr lang="nb-NO" dirty="0"/>
              <a:t>TWI / I</a:t>
            </a:r>
            <a:r>
              <a:rPr lang="nb-NO" baseline="30000" dirty="0"/>
              <a:t>2</a:t>
            </a:r>
            <a:r>
              <a:rPr lang="nb-NO" dirty="0"/>
              <a:t>C</a:t>
            </a:r>
          </a:p>
          <a:p>
            <a:pPr lvl="1"/>
            <a:r>
              <a:rPr lang="nb-NO" dirty="0"/>
              <a:t>SPI</a:t>
            </a:r>
          </a:p>
          <a:p>
            <a:pPr lvl="1"/>
            <a:endParaRPr lang="nb-NO" dirty="0"/>
          </a:p>
          <a:p>
            <a:r>
              <a:rPr lang="nb-NO" dirty="0"/>
              <a:t>Ryddigere kode</a:t>
            </a:r>
          </a:p>
        </p:txBody>
      </p:sp>
    </p:spTree>
    <p:extLst>
      <p:ext uri="{BB962C8B-B14F-4D97-AF65-F5344CB8AC3E}">
        <p14:creationId xmlns:p14="http://schemas.microsoft.com/office/powerpoint/2010/main" val="40283209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983AD14D-7FCE-008F-22D5-5A65B36D12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TWI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3893E738-530D-ECAC-209A-E4A008578A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nb-NO" dirty="0" err="1"/>
              <a:t>Two</a:t>
            </a:r>
            <a:r>
              <a:rPr lang="nb-NO" dirty="0"/>
              <a:t> Wire </a:t>
            </a:r>
            <a:r>
              <a:rPr lang="nb-NO" dirty="0" err="1"/>
              <a:t>interface</a:t>
            </a:r>
            <a:endParaRPr lang="nb-NO" dirty="0"/>
          </a:p>
          <a:p>
            <a:pPr>
              <a:lnSpc>
                <a:spcPct val="150000"/>
              </a:lnSpc>
            </a:pPr>
            <a:r>
              <a:rPr lang="nb-NO" dirty="0"/>
              <a:t>Implementasjon av I</a:t>
            </a:r>
            <a:r>
              <a:rPr lang="nb-NO" baseline="30000" dirty="0"/>
              <a:t>2</a:t>
            </a:r>
            <a:r>
              <a:rPr lang="nb-NO" dirty="0"/>
              <a:t>C</a:t>
            </a:r>
          </a:p>
          <a:p>
            <a:pPr lvl="1">
              <a:lnSpc>
                <a:spcPct val="100000"/>
              </a:lnSpc>
            </a:pPr>
            <a:r>
              <a:rPr lang="nb-NO" dirty="0"/>
              <a:t>Inter-Integrated Circuit</a:t>
            </a:r>
          </a:p>
          <a:p>
            <a:pPr>
              <a:lnSpc>
                <a:spcPct val="150000"/>
              </a:lnSpc>
            </a:pPr>
            <a:r>
              <a:rPr lang="nb-NO" dirty="0"/>
              <a:t>Kommunikasjon mellom enheter</a:t>
            </a:r>
          </a:p>
          <a:p>
            <a:pPr>
              <a:lnSpc>
                <a:spcPct val="150000"/>
              </a:lnSpc>
            </a:pPr>
            <a:r>
              <a:rPr lang="nb-NO" dirty="0"/>
              <a:t>Slavemodell</a:t>
            </a:r>
          </a:p>
        </p:txBody>
      </p:sp>
    </p:spTree>
    <p:extLst>
      <p:ext uri="{BB962C8B-B14F-4D97-AF65-F5344CB8AC3E}">
        <p14:creationId xmlns:p14="http://schemas.microsoft.com/office/powerpoint/2010/main" val="32390255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F01A9259-71A5-8CFA-7225-6658B4E2DB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TWI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DCF85F72-3105-694A-5A84-D236F07043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dirty="0"/>
              <a:t>SDA, SCL</a:t>
            </a:r>
          </a:p>
          <a:p>
            <a:pPr lvl="1"/>
            <a:r>
              <a:rPr lang="nb-NO" dirty="0"/>
              <a:t>Koblet til </a:t>
            </a:r>
            <a:r>
              <a:rPr lang="nb-NO" dirty="0" err="1"/>
              <a:t>Pullup</a:t>
            </a:r>
            <a:r>
              <a:rPr lang="nb-NO" dirty="0"/>
              <a:t>-motstand</a:t>
            </a:r>
          </a:p>
          <a:p>
            <a:pPr>
              <a:lnSpc>
                <a:spcPct val="150000"/>
              </a:lnSpc>
            </a:pPr>
            <a:r>
              <a:rPr lang="nb-NO" dirty="0"/>
              <a:t>Kontroller styrer klokken</a:t>
            </a:r>
          </a:p>
          <a:p>
            <a:pPr>
              <a:lnSpc>
                <a:spcPct val="150000"/>
              </a:lnSpc>
            </a:pPr>
            <a:r>
              <a:rPr lang="nb-NO" dirty="0"/>
              <a:t>Data på SDA</a:t>
            </a:r>
          </a:p>
          <a:p>
            <a:pPr lvl="1"/>
            <a:r>
              <a:rPr lang="nb-NO" dirty="0"/>
              <a:t>R/W</a:t>
            </a:r>
          </a:p>
          <a:p>
            <a:pPr lvl="1"/>
            <a:r>
              <a:rPr lang="nb-NO" dirty="0"/>
              <a:t>Linjen trekkes til 0V</a:t>
            </a:r>
          </a:p>
          <a:p>
            <a:pPr>
              <a:lnSpc>
                <a:spcPct val="150000"/>
              </a:lnSpc>
            </a:pPr>
            <a:r>
              <a:rPr lang="nb-NO" dirty="0"/>
              <a:t>Enhetsadresser</a:t>
            </a:r>
          </a:p>
        </p:txBody>
      </p:sp>
    </p:spTree>
    <p:extLst>
      <p:ext uri="{BB962C8B-B14F-4D97-AF65-F5344CB8AC3E}">
        <p14:creationId xmlns:p14="http://schemas.microsoft.com/office/powerpoint/2010/main" val="35317980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332BC-9807-97BB-4312-73C6A7FEF3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7AAA91D2-BE0C-6D3D-E414-127883F5CE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TWI – Lese data</a:t>
            </a:r>
          </a:p>
        </p:txBody>
      </p:sp>
      <p:pic>
        <p:nvPicPr>
          <p:cNvPr id="7" name="Bilde 6">
            <a:extLst>
              <a:ext uri="{FF2B5EF4-FFF2-40B4-BE49-F238E27FC236}">
                <a16:creationId xmlns:a16="http://schemas.microsoft.com/office/drawing/2014/main" id="{4F533D4C-890D-4C94-5848-3A9A77A2A1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266" y="2593614"/>
            <a:ext cx="10463133" cy="4264386"/>
          </a:xfrm>
          <a:prstGeom prst="rect">
            <a:avLst/>
          </a:prstGeom>
        </p:spPr>
      </p:pic>
      <p:sp>
        <p:nvSpPr>
          <p:cNvPr id="8" name="Snakkeboble: rektangel med avrundede hjørner 7">
            <a:extLst>
              <a:ext uri="{FF2B5EF4-FFF2-40B4-BE49-F238E27FC236}">
                <a16:creationId xmlns:a16="http://schemas.microsoft.com/office/drawing/2014/main" id="{3A831136-1707-247D-E4E1-10810C65E9EC}"/>
              </a:ext>
            </a:extLst>
          </p:cNvPr>
          <p:cNvSpPr/>
          <p:nvPr/>
        </p:nvSpPr>
        <p:spPr>
          <a:xfrm>
            <a:off x="1887793" y="1378308"/>
            <a:ext cx="2320413" cy="1325563"/>
          </a:xfrm>
          <a:prstGeom prst="wedgeRoundRectCallou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b-NO" dirty="0">
                <a:solidFill>
                  <a:schemeClr val="tx1"/>
                </a:solidFill>
              </a:rPr>
              <a:t>Nå kommer en melding</a:t>
            </a:r>
          </a:p>
        </p:txBody>
      </p:sp>
    </p:spTree>
    <p:extLst>
      <p:ext uri="{BB962C8B-B14F-4D97-AF65-F5344CB8AC3E}">
        <p14:creationId xmlns:p14="http://schemas.microsoft.com/office/powerpoint/2010/main" val="29747540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8F554-1E7B-AE2A-211D-5C8618F8CA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0D1C5BAD-7FD0-97F3-3E8A-54897CFAE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TWI – Lese data</a:t>
            </a:r>
          </a:p>
        </p:txBody>
      </p:sp>
      <p:pic>
        <p:nvPicPr>
          <p:cNvPr id="7" name="Bilde 6">
            <a:extLst>
              <a:ext uri="{FF2B5EF4-FFF2-40B4-BE49-F238E27FC236}">
                <a16:creationId xmlns:a16="http://schemas.microsoft.com/office/drawing/2014/main" id="{8828605B-9C5A-063C-F9BF-5718A11F8D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266" y="2593614"/>
            <a:ext cx="10463133" cy="4264386"/>
          </a:xfrm>
          <a:prstGeom prst="rect">
            <a:avLst/>
          </a:prstGeom>
        </p:spPr>
      </p:pic>
      <p:sp>
        <p:nvSpPr>
          <p:cNvPr id="8" name="Snakkeboble: rektangel med avrundede hjørner 7">
            <a:extLst>
              <a:ext uri="{FF2B5EF4-FFF2-40B4-BE49-F238E27FC236}">
                <a16:creationId xmlns:a16="http://schemas.microsoft.com/office/drawing/2014/main" id="{F175B8F9-D795-CC16-40D7-8F6C1BA17C0A}"/>
              </a:ext>
            </a:extLst>
          </p:cNvPr>
          <p:cNvSpPr/>
          <p:nvPr/>
        </p:nvSpPr>
        <p:spPr>
          <a:xfrm>
            <a:off x="1887793" y="1378308"/>
            <a:ext cx="2320413" cy="1325563"/>
          </a:xfrm>
          <a:prstGeom prst="wedgeRoundRectCallou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b-NO" dirty="0">
                <a:solidFill>
                  <a:schemeClr val="tx1"/>
                </a:solidFill>
              </a:rPr>
              <a:t>0x02, jeg har data til deg</a:t>
            </a:r>
          </a:p>
        </p:txBody>
      </p:sp>
    </p:spTree>
    <p:extLst>
      <p:ext uri="{BB962C8B-B14F-4D97-AF65-F5344CB8AC3E}">
        <p14:creationId xmlns:p14="http://schemas.microsoft.com/office/powerpoint/2010/main" val="2650227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95774A-33B1-6BC2-5569-495A52147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545242CA-C30C-EEC6-0A97-581144DA1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TWI – Lese data</a:t>
            </a:r>
          </a:p>
        </p:txBody>
      </p:sp>
      <p:pic>
        <p:nvPicPr>
          <p:cNvPr id="7" name="Bilde 6">
            <a:extLst>
              <a:ext uri="{FF2B5EF4-FFF2-40B4-BE49-F238E27FC236}">
                <a16:creationId xmlns:a16="http://schemas.microsoft.com/office/drawing/2014/main" id="{0672919D-973E-2105-519A-906B93F267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266" y="2593614"/>
            <a:ext cx="10463133" cy="4264386"/>
          </a:xfrm>
          <a:prstGeom prst="rect">
            <a:avLst/>
          </a:prstGeom>
        </p:spPr>
      </p:pic>
      <p:sp>
        <p:nvSpPr>
          <p:cNvPr id="8" name="Snakkeboble: rektangel med avrundede hjørner 7">
            <a:extLst>
              <a:ext uri="{FF2B5EF4-FFF2-40B4-BE49-F238E27FC236}">
                <a16:creationId xmlns:a16="http://schemas.microsoft.com/office/drawing/2014/main" id="{073DB157-FBEE-BAA6-DD2E-052FC76E3357}"/>
              </a:ext>
            </a:extLst>
          </p:cNvPr>
          <p:cNvSpPr/>
          <p:nvPr/>
        </p:nvSpPr>
        <p:spPr>
          <a:xfrm>
            <a:off x="1887793" y="1378308"/>
            <a:ext cx="2320413" cy="1325563"/>
          </a:xfrm>
          <a:prstGeom prst="wedgeRoundRectCallou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b-NO" dirty="0">
                <a:solidFill>
                  <a:schemeClr val="tx1"/>
                </a:solidFill>
              </a:rPr>
              <a:t>Registeradresse</a:t>
            </a:r>
          </a:p>
        </p:txBody>
      </p:sp>
    </p:spTree>
    <p:extLst>
      <p:ext uri="{BB962C8B-B14F-4D97-AF65-F5344CB8AC3E}">
        <p14:creationId xmlns:p14="http://schemas.microsoft.com/office/powerpoint/2010/main" val="32935723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897D2F-0A0F-BA7C-F43C-60C9B2D70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6AB7A3F4-213A-711B-2AD1-ED1020A700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TWI – Skrive data</a:t>
            </a:r>
          </a:p>
        </p:txBody>
      </p:sp>
      <p:pic>
        <p:nvPicPr>
          <p:cNvPr id="7" name="Bilde 6">
            <a:extLst>
              <a:ext uri="{FF2B5EF4-FFF2-40B4-BE49-F238E27FC236}">
                <a16:creationId xmlns:a16="http://schemas.microsoft.com/office/drawing/2014/main" id="{CC4CCB0D-B6AD-EFF9-C168-412081360B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266" y="2593614"/>
            <a:ext cx="10463133" cy="4264386"/>
          </a:xfrm>
          <a:prstGeom prst="rect">
            <a:avLst/>
          </a:prstGeom>
        </p:spPr>
      </p:pic>
      <p:sp>
        <p:nvSpPr>
          <p:cNvPr id="8" name="Snakkeboble: rektangel med avrundede hjørner 7">
            <a:extLst>
              <a:ext uri="{FF2B5EF4-FFF2-40B4-BE49-F238E27FC236}">
                <a16:creationId xmlns:a16="http://schemas.microsoft.com/office/drawing/2014/main" id="{9759395D-8A0A-B5E3-0AB7-E1FDC6C5CBC5}"/>
              </a:ext>
            </a:extLst>
          </p:cNvPr>
          <p:cNvSpPr/>
          <p:nvPr/>
        </p:nvSpPr>
        <p:spPr>
          <a:xfrm>
            <a:off x="7511844" y="1347530"/>
            <a:ext cx="2320413" cy="1325563"/>
          </a:xfrm>
          <a:prstGeom prst="wedgeRoundRectCallout">
            <a:avLst>
              <a:gd name="adj1" fmla="val -20409"/>
              <a:gd name="adj2" fmla="val 118872"/>
              <a:gd name="adj3" fmla="val 16667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b-NO" dirty="0">
                <a:solidFill>
                  <a:schemeClr val="tx1"/>
                </a:solidFill>
              </a:rPr>
              <a:t>Ok! (ACK)</a:t>
            </a:r>
          </a:p>
        </p:txBody>
      </p:sp>
    </p:spTree>
    <p:extLst>
      <p:ext uri="{BB962C8B-B14F-4D97-AF65-F5344CB8AC3E}">
        <p14:creationId xmlns:p14="http://schemas.microsoft.com/office/powerpoint/2010/main" val="34978881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3408E6-2525-8112-3740-10176C971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00CF7BA9-7484-6A77-CB40-FE69C883A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TWI – Lese data</a:t>
            </a:r>
          </a:p>
        </p:txBody>
      </p:sp>
      <p:pic>
        <p:nvPicPr>
          <p:cNvPr id="7" name="Bilde 6">
            <a:extLst>
              <a:ext uri="{FF2B5EF4-FFF2-40B4-BE49-F238E27FC236}">
                <a16:creationId xmlns:a16="http://schemas.microsoft.com/office/drawing/2014/main" id="{FE75D30B-1FC3-1DB9-CADD-4A8B860AED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266" y="2593614"/>
            <a:ext cx="10463133" cy="4264386"/>
          </a:xfrm>
          <a:prstGeom prst="rect">
            <a:avLst/>
          </a:prstGeom>
        </p:spPr>
      </p:pic>
      <p:sp>
        <p:nvSpPr>
          <p:cNvPr id="8" name="Snakkeboble: rektangel med avrundede hjørner 7">
            <a:extLst>
              <a:ext uri="{FF2B5EF4-FFF2-40B4-BE49-F238E27FC236}">
                <a16:creationId xmlns:a16="http://schemas.microsoft.com/office/drawing/2014/main" id="{F8330F8E-D161-E834-298E-F92465A4586B}"/>
              </a:ext>
            </a:extLst>
          </p:cNvPr>
          <p:cNvSpPr/>
          <p:nvPr/>
        </p:nvSpPr>
        <p:spPr>
          <a:xfrm>
            <a:off x="1887793" y="1378308"/>
            <a:ext cx="2320413" cy="1325563"/>
          </a:xfrm>
          <a:prstGeom prst="wedgeRoundRectCallou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b-NO" dirty="0">
                <a:solidFill>
                  <a:schemeClr val="tx1"/>
                </a:solidFill>
              </a:rPr>
              <a:t>La oss starte på nytt</a:t>
            </a:r>
          </a:p>
        </p:txBody>
      </p:sp>
    </p:spTree>
    <p:extLst>
      <p:ext uri="{BB962C8B-B14F-4D97-AF65-F5344CB8AC3E}">
        <p14:creationId xmlns:p14="http://schemas.microsoft.com/office/powerpoint/2010/main" val="6899991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06264D-AC19-CC63-E5E1-B1FF09707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66858FB2-61D2-6F74-B7F7-BF9B50EABE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TWI – Lese data</a:t>
            </a:r>
          </a:p>
        </p:txBody>
      </p:sp>
      <p:pic>
        <p:nvPicPr>
          <p:cNvPr id="7" name="Bilde 6">
            <a:extLst>
              <a:ext uri="{FF2B5EF4-FFF2-40B4-BE49-F238E27FC236}">
                <a16:creationId xmlns:a16="http://schemas.microsoft.com/office/drawing/2014/main" id="{9E8245BA-EFCE-8035-FDCA-B5278CC379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266" y="2593614"/>
            <a:ext cx="10463133" cy="4264386"/>
          </a:xfrm>
          <a:prstGeom prst="rect">
            <a:avLst/>
          </a:prstGeom>
        </p:spPr>
      </p:pic>
      <p:sp>
        <p:nvSpPr>
          <p:cNvPr id="8" name="Snakkeboble: rektangel med avrundede hjørner 7">
            <a:extLst>
              <a:ext uri="{FF2B5EF4-FFF2-40B4-BE49-F238E27FC236}">
                <a16:creationId xmlns:a16="http://schemas.microsoft.com/office/drawing/2014/main" id="{476C5932-7F65-D5A2-1FC6-E03C13C3E99F}"/>
              </a:ext>
            </a:extLst>
          </p:cNvPr>
          <p:cNvSpPr/>
          <p:nvPr/>
        </p:nvSpPr>
        <p:spPr>
          <a:xfrm>
            <a:off x="1887793" y="1378308"/>
            <a:ext cx="2320413" cy="1325563"/>
          </a:xfrm>
          <a:prstGeom prst="wedgeRoundRectCallou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b-NO" dirty="0">
                <a:solidFill>
                  <a:schemeClr val="tx1"/>
                </a:solidFill>
              </a:rPr>
              <a:t>0x02, jeg vil ha informasjon</a:t>
            </a:r>
          </a:p>
        </p:txBody>
      </p:sp>
    </p:spTree>
    <p:extLst>
      <p:ext uri="{BB962C8B-B14F-4D97-AF65-F5344CB8AC3E}">
        <p14:creationId xmlns:p14="http://schemas.microsoft.com/office/powerpoint/2010/main" val="38048548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EEF4A9-4696-3252-035A-B1570FE29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5042EB42-7070-D3BF-88EE-B8423800B1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TWI – Skrive data</a:t>
            </a:r>
          </a:p>
        </p:txBody>
      </p:sp>
      <p:pic>
        <p:nvPicPr>
          <p:cNvPr id="7" name="Bilde 6">
            <a:extLst>
              <a:ext uri="{FF2B5EF4-FFF2-40B4-BE49-F238E27FC236}">
                <a16:creationId xmlns:a16="http://schemas.microsoft.com/office/drawing/2014/main" id="{BE10DC65-3C48-BE0E-50C0-3E96AA1DE3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266" y="2593614"/>
            <a:ext cx="10463133" cy="4264386"/>
          </a:xfrm>
          <a:prstGeom prst="rect">
            <a:avLst/>
          </a:prstGeom>
        </p:spPr>
      </p:pic>
      <p:sp>
        <p:nvSpPr>
          <p:cNvPr id="8" name="Snakkeboble: rektangel med avrundede hjørner 7">
            <a:extLst>
              <a:ext uri="{FF2B5EF4-FFF2-40B4-BE49-F238E27FC236}">
                <a16:creationId xmlns:a16="http://schemas.microsoft.com/office/drawing/2014/main" id="{2B6B883C-A6C9-2C87-5D49-64C442FD7DDE}"/>
              </a:ext>
            </a:extLst>
          </p:cNvPr>
          <p:cNvSpPr/>
          <p:nvPr/>
        </p:nvSpPr>
        <p:spPr>
          <a:xfrm>
            <a:off x="7482347" y="1479370"/>
            <a:ext cx="2320413" cy="1325563"/>
          </a:xfrm>
          <a:prstGeom prst="wedgeRoundRectCallout">
            <a:avLst>
              <a:gd name="adj1" fmla="val -20409"/>
              <a:gd name="adj2" fmla="val 118872"/>
              <a:gd name="adj3" fmla="val 16667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b-NO" dirty="0">
                <a:solidFill>
                  <a:schemeClr val="tx1"/>
                </a:solidFill>
              </a:rPr>
              <a:t>Ok! Her er data fra registeret du forespurte</a:t>
            </a:r>
          </a:p>
        </p:txBody>
      </p:sp>
    </p:spTree>
    <p:extLst>
      <p:ext uri="{BB962C8B-B14F-4D97-AF65-F5344CB8AC3E}">
        <p14:creationId xmlns:p14="http://schemas.microsoft.com/office/powerpoint/2010/main" val="40292401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31ED12-772A-BCFB-FCA4-9060F8547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741D6150-A167-18D5-E9E5-3157192E9E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TWI – Lese data</a:t>
            </a:r>
          </a:p>
        </p:txBody>
      </p:sp>
      <p:pic>
        <p:nvPicPr>
          <p:cNvPr id="7" name="Bilde 6">
            <a:extLst>
              <a:ext uri="{FF2B5EF4-FFF2-40B4-BE49-F238E27FC236}">
                <a16:creationId xmlns:a16="http://schemas.microsoft.com/office/drawing/2014/main" id="{690BC4E3-6F4B-1776-CFC9-E92F73F2DE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266" y="2593614"/>
            <a:ext cx="10463133" cy="4264386"/>
          </a:xfrm>
          <a:prstGeom prst="rect">
            <a:avLst/>
          </a:prstGeom>
        </p:spPr>
      </p:pic>
      <p:sp>
        <p:nvSpPr>
          <p:cNvPr id="8" name="Snakkeboble: rektangel med avrundede hjørner 7">
            <a:extLst>
              <a:ext uri="{FF2B5EF4-FFF2-40B4-BE49-F238E27FC236}">
                <a16:creationId xmlns:a16="http://schemas.microsoft.com/office/drawing/2014/main" id="{D02E476F-C9C2-1A5A-51C2-737EBD1EE4AC}"/>
              </a:ext>
            </a:extLst>
          </p:cNvPr>
          <p:cNvSpPr/>
          <p:nvPr/>
        </p:nvSpPr>
        <p:spPr>
          <a:xfrm>
            <a:off x="1887793" y="1378308"/>
            <a:ext cx="2320413" cy="1325563"/>
          </a:xfrm>
          <a:prstGeom prst="wedgeRoundRectCallou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b-NO" dirty="0">
                <a:solidFill>
                  <a:schemeClr val="tx1"/>
                </a:solidFill>
              </a:rPr>
              <a:t>Ok! (</a:t>
            </a:r>
            <a:r>
              <a:rPr lang="nb-NO" dirty="0" err="1">
                <a:solidFill>
                  <a:schemeClr val="tx1"/>
                </a:solidFill>
              </a:rPr>
              <a:t>Ack</a:t>
            </a:r>
            <a:r>
              <a:rPr lang="nb-NO" dirty="0">
                <a:solidFill>
                  <a:schemeClr val="tx1"/>
                </a:solidFill>
              </a:rPr>
              <a:t>)</a:t>
            </a:r>
          </a:p>
          <a:p>
            <a:pPr algn="ctr"/>
            <a:r>
              <a:rPr lang="nb-NO" dirty="0">
                <a:solidFill>
                  <a:schemeClr val="tx1"/>
                </a:solidFill>
              </a:rPr>
              <a:t>Kommunikasjon over.</a:t>
            </a:r>
          </a:p>
        </p:txBody>
      </p:sp>
    </p:spTree>
    <p:extLst>
      <p:ext uri="{BB962C8B-B14F-4D97-AF65-F5344CB8AC3E}">
        <p14:creationId xmlns:p14="http://schemas.microsoft.com/office/powerpoint/2010/main" val="17708076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F23DAB03-A866-780D-3A4A-C371ACDF75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På Explorer</a:t>
            </a:r>
          </a:p>
        </p:txBody>
      </p:sp>
      <p:pic>
        <p:nvPicPr>
          <p:cNvPr id="5" name="Plassholder for innhold 4">
            <a:extLst>
              <a:ext uri="{FF2B5EF4-FFF2-40B4-BE49-F238E27FC236}">
                <a16:creationId xmlns:a16="http://schemas.microsoft.com/office/drawing/2014/main" id="{C35FBB80-E4B4-0DF0-ED00-C504C61E5ED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3102237"/>
            <a:ext cx="10421804" cy="2486372"/>
          </a:xfrm>
          <a:prstGeom prst="rect">
            <a:avLst/>
          </a:prstGeom>
        </p:spPr>
      </p:pic>
      <p:sp>
        <p:nvSpPr>
          <p:cNvPr id="6" name="TekstSylinder 5">
            <a:extLst>
              <a:ext uri="{FF2B5EF4-FFF2-40B4-BE49-F238E27FC236}">
                <a16:creationId xmlns:a16="http://schemas.microsoft.com/office/drawing/2014/main" id="{2BF88D81-A46A-F2FB-8890-18C78EF11F73}"/>
              </a:ext>
            </a:extLst>
          </p:cNvPr>
          <p:cNvSpPr txBox="1"/>
          <p:nvPr/>
        </p:nvSpPr>
        <p:spPr>
          <a:xfrm>
            <a:off x="6430297" y="6371303"/>
            <a:ext cx="5797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b-NO" dirty="0"/>
              <a:t>Fra </a:t>
            </a:r>
            <a:r>
              <a:rPr lang="nb-NO" dirty="0" err="1"/>
              <a:t>Curiosity</a:t>
            </a:r>
            <a:r>
              <a:rPr lang="nb-NO" dirty="0"/>
              <a:t> </a:t>
            </a:r>
            <a:r>
              <a:rPr lang="nb-NO" dirty="0" err="1"/>
              <a:t>Nano</a:t>
            </a:r>
            <a:r>
              <a:rPr lang="nb-NO" dirty="0"/>
              <a:t> Explorer User Guide(Hentet 18.03-26)</a:t>
            </a:r>
          </a:p>
        </p:txBody>
      </p:sp>
    </p:spTree>
    <p:extLst>
      <p:ext uri="{BB962C8B-B14F-4D97-AF65-F5344CB8AC3E}">
        <p14:creationId xmlns:p14="http://schemas.microsoft.com/office/powerpoint/2010/main" val="26645446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9733E36F-321B-C9E9-820A-20FD569231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SPI – Serial </a:t>
            </a:r>
            <a:r>
              <a:rPr lang="nb-NO" dirty="0" err="1"/>
              <a:t>Peripheral</a:t>
            </a:r>
            <a:r>
              <a:rPr lang="nb-NO" dirty="0"/>
              <a:t> Interface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708B3CA3-C68B-417D-7358-13E30FD66F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dirty="0"/>
              <a:t>For kommunikasjon med periferi-enheter</a:t>
            </a:r>
          </a:p>
          <a:p>
            <a:r>
              <a:rPr lang="nb-NO" dirty="0"/>
              <a:t>Bruker fire pinner</a:t>
            </a:r>
          </a:p>
          <a:p>
            <a:pPr lvl="1"/>
            <a:r>
              <a:rPr lang="nb-NO" dirty="0"/>
              <a:t>MOSI (COPI)</a:t>
            </a:r>
          </a:p>
          <a:p>
            <a:pPr lvl="1"/>
            <a:r>
              <a:rPr lang="nb-NO" dirty="0"/>
              <a:t>MISO (CIPO)</a:t>
            </a:r>
          </a:p>
          <a:p>
            <a:pPr lvl="1"/>
            <a:r>
              <a:rPr lang="nb-NO" dirty="0"/>
              <a:t>SS (CS)</a:t>
            </a:r>
          </a:p>
          <a:p>
            <a:pPr lvl="1"/>
            <a:r>
              <a:rPr lang="nb-NO" dirty="0"/>
              <a:t>CLK</a:t>
            </a:r>
          </a:p>
          <a:p>
            <a:r>
              <a:rPr lang="nb-NO" dirty="0"/>
              <a:t>Kontroller styrer klokke og starter datatransaksjon</a:t>
            </a:r>
          </a:p>
          <a:p>
            <a:pPr lvl="1"/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15354244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F2652C1F-5E3F-283B-686A-C402B643B8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SPI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7418D357-1DEA-DF46-C2F1-5716DA93F8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dirty="0"/>
              <a:t>Symmetrisk dataoverføring</a:t>
            </a:r>
          </a:p>
          <a:p>
            <a:r>
              <a:rPr lang="nb-NO" dirty="0"/>
              <a:t>SS/CS blir lav</a:t>
            </a:r>
          </a:p>
          <a:p>
            <a:r>
              <a:rPr lang="nb-NO" dirty="0"/>
              <a:t>Data klargjøres og overføres </a:t>
            </a:r>
            <a:r>
              <a:rPr lang="nb-NO"/>
              <a:t>på klokkeslagene</a:t>
            </a:r>
            <a:endParaRPr lang="nb-NO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9CDD6F6-3854-4125-4E3E-4DD7020692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3292638"/>
            <a:ext cx="10554930" cy="25067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kstSylinder 3">
            <a:extLst>
              <a:ext uri="{FF2B5EF4-FFF2-40B4-BE49-F238E27FC236}">
                <a16:creationId xmlns:a16="http://schemas.microsoft.com/office/drawing/2014/main" id="{F7850871-5598-210C-5AA7-C6136F3412F9}"/>
              </a:ext>
            </a:extLst>
          </p:cNvPr>
          <p:cNvSpPr txBox="1"/>
          <p:nvPr/>
        </p:nvSpPr>
        <p:spPr>
          <a:xfrm>
            <a:off x="4067126" y="6211669"/>
            <a:ext cx="82357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b-NO" dirty="0"/>
              <a:t>Adem </a:t>
            </a:r>
            <a:r>
              <a:rPr lang="nb-NO" dirty="0" err="1"/>
              <a:t>Güdük</a:t>
            </a:r>
            <a:r>
              <a:rPr lang="nb-NO" dirty="0"/>
              <a:t>, Hentet fra </a:t>
            </a:r>
            <a:r>
              <a:rPr lang="nb-NO" dirty="0">
                <a:hlinkClick r:id="rId3"/>
              </a:rPr>
              <a:t>https://en.wikipedia.org/wiki/Serial_Peripheral_Interface</a:t>
            </a:r>
            <a:endParaRPr lang="nb-NO" dirty="0"/>
          </a:p>
          <a:p>
            <a:r>
              <a:rPr lang="nb-NO" dirty="0"/>
              <a:t>Hentet 18.03-26</a:t>
            </a:r>
          </a:p>
        </p:txBody>
      </p:sp>
    </p:spTree>
    <p:extLst>
      <p:ext uri="{BB962C8B-B14F-4D97-AF65-F5344CB8AC3E}">
        <p14:creationId xmlns:p14="http://schemas.microsoft.com/office/powerpoint/2010/main" val="22869644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53DFE677-C940-85DC-2FD3-935CCD991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Ryddig prosjekt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FE063FA7-EB41-4848-7C31-CB55512F0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r>
              <a:rPr lang="nb-NO" dirty="0"/>
              <a:t>Lang kode er uleselig</a:t>
            </a:r>
          </a:p>
          <a:p>
            <a:pPr lvl="1"/>
            <a:r>
              <a:rPr lang="nb-NO" dirty="0"/>
              <a:t>Vanskelig å finne funksjoner</a:t>
            </a:r>
          </a:p>
          <a:p>
            <a:pPr lvl="1">
              <a:lnSpc>
                <a:spcPct val="150000"/>
              </a:lnSpc>
            </a:pPr>
            <a:r>
              <a:rPr lang="nb-NO" dirty="0"/>
              <a:t>Må lete etter riktig logikk</a:t>
            </a:r>
          </a:p>
          <a:p>
            <a:pPr>
              <a:lnSpc>
                <a:spcPct val="150000"/>
              </a:lnSpc>
            </a:pPr>
            <a:r>
              <a:rPr lang="nb-NO" dirty="0"/>
              <a:t>Biblioteker er nyttige</a:t>
            </a:r>
          </a:p>
          <a:p>
            <a:pPr>
              <a:lnSpc>
                <a:spcPct val="150000"/>
              </a:lnSpc>
            </a:pPr>
            <a:r>
              <a:rPr lang="nb-NO" dirty="0"/>
              <a:t>Løsning: Del i flere filer</a:t>
            </a:r>
          </a:p>
          <a:p>
            <a:pPr>
              <a:lnSpc>
                <a:spcPct val="150000"/>
              </a:lnSpc>
            </a:pPr>
            <a:r>
              <a:rPr lang="nb-NO" dirty="0"/>
              <a:t>Logisk fil/mappe-struktur</a:t>
            </a:r>
          </a:p>
          <a:p>
            <a:pPr>
              <a:lnSpc>
                <a:spcPct val="160000"/>
              </a:lnSpc>
            </a:pPr>
            <a:r>
              <a:rPr lang="nb-NO" dirty="0"/>
              <a:t>Funksjoner med beskrivende navn</a:t>
            </a:r>
          </a:p>
          <a:p>
            <a:pPr lvl="1">
              <a:lnSpc>
                <a:spcPct val="100000"/>
              </a:lnSpc>
            </a:pPr>
            <a:r>
              <a:rPr lang="nb-NO" dirty="0"/>
              <a:t>Aldri skriv en kodeblokk to ganger</a:t>
            </a:r>
          </a:p>
        </p:txBody>
      </p:sp>
      <p:pic>
        <p:nvPicPr>
          <p:cNvPr id="5" name="Bilde 4">
            <a:extLst>
              <a:ext uri="{FF2B5EF4-FFF2-40B4-BE49-F238E27FC236}">
                <a16:creationId xmlns:a16="http://schemas.microsoft.com/office/drawing/2014/main" id="{741A0683-37D8-6C2D-C921-0EAEF4F60AB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9102"/>
          <a:stretch>
            <a:fillRect/>
          </a:stretch>
        </p:blipFill>
        <p:spPr>
          <a:xfrm>
            <a:off x="5968180" y="1205000"/>
            <a:ext cx="2740742" cy="3711129"/>
          </a:xfrm>
          <a:prstGeom prst="rect">
            <a:avLst/>
          </a:prstGeom>
        </p:spPr>
      </p:pic>
      <p:pic>
        <p:nvPicPr>
          <p:cNvPr id="7" name="Bilde 6">
            <a:extLst>
              <a:ext uri="{FF2B5EF4-FFF2-40B4-BE49-F238E27FC236}">
                <a16:creationId xmlns:a16="http://schemas.microsoft.com/office/drawing/2014/main" id="{0003A7AA-B351-756D-B892-3EC3BED5ECB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744" r="62788"/>
          <a:stretch>
            <a:fillRect/>
          </a:stretch>
        </p:blipFill>
        <p:spPr>
          <a:xfrm>
            <a:off x="8974394" y="1205000"/>
            <a:ext cx="2974092" cy="3711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84384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98E0F834-A791-01A6-EB0C-EE23FB22B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Eksterne filer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FEC9326D-DBA6-9167-CC19-CB21EA50BB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40646"/>
          </a:xfrm>
        </p:spPr>
        <p:txBody>
          <a:bodyPr>
            <a:normAutofit/>
          </a:bodyPr>
          <a:lstStyle/>
          <a:p>
            <a:r>
              <a:rPr lang="nb-NO" dirty="0"/>
              <a:t>To typer filer</a:t>
            </a:r>
          </a:p>
          <a:p>
            <a:pPr lvl="1"/>
            <a:r>
              <a:rPr lang="nb-NO" dirty="0" err="1"/>
              <a:t>Headerfil</a:t>
            </a:r>
            <a:r>
              <a:rPr lang="nb-NO" dirty="0"/>
              <a:t> (.h)</a:t>
            </a:r>
          </a:p>
          <a:p>
            <a:pPr lvl="1"/>
            <a:r>
              <a:rPr lang="nb-NO" dirty="0"/>
              <a:t>Kildefil (.c)</a:t>
            </a:r>
          </a:p>
          <a:p>
            <a:pPr>
              <a:lnSpc>
                <a:spcPct val="150000"/>
              </a:lnSpc>
            </a:pPr>
            <a:r>
              <a:rPr lang="nb-NO" dirty="0" err="1"/>
              <a:t>Headerfil</a:t>
            </a:r>
            <a:r>
              <a:rPr lang="nb-NO" dirty="0"/>
              <a:t> erklærer funksjoner og variabler</a:t>
            </a:r>
          </a:p>
          <a:p>
            <a:pPr lvl="1"/>
            <a:r>
              <a:rPr lang="nb-NO" dirty="0"/>
              <a:t>Forteller kompilatoren at de eksisterer, input og output</a:t>
            </a:r>
          </a:p>
          <a:p>
            <a:pPr lvl="1"/>
            <a:r>
              <a:rPr lang="nb-NO" dirty="0"/>
              <a:t>Limes praktisk talt inn i fil når de inkluderes</a:t>
            </a:r>
          </a:p>
          <a:p>
            <a:pPr>
              <a:lnSpc>
                <a:spcPct val="150000"/>
              </a:lnSpc>
            </a:pPr>
            <a:r>
              <a:rPr lang="nb-NO" dirty="0"/>
              <a:t>Kildefil inneholder all kode</a:t>
            </a:r>
          </a:p>
          <a:p>
            <a:pPr lvl="1"/>
            <a:r>
              <a:rPr lang="nb-NO" dirty="0"/>
              <a:t>Kildefilen kompileres for seg selv, men kobles sammen med </a:t>
            </a:r>
            <a:r>
              <a:rPr lang="nb-NO" dirty="0" err="1"/>
              <a:t>main.c</a:t>
            </a:r>
            <a:r>
              <a:rPr lang="nb-NO" dirty="0"/>
              <a:t> i </a:t>
            </a:r>
            <a:r>
              <a:rPr lang="nb-NO" i="1" dirty="0"/>
              <a:t>linker</a:t>
            </a:r>
            <a:r>
              <a:rPr lang="nb-NO" dirty="0"/>
              <a:t>-trinnet av byggeprosessen</a:t>
            </a:r>
          </a:p>
          <a:p>
            <a:pPr lvl="1"/>
            <a:r>
              <a:rPr lang="nb-NO" dirty="0"/>
              <a:t>Viktig å inkludere tilhørende .h fil</a:t>
            </a:r>
          </a:p>
          <a:p>
            <a:pPr lvl="1"/>
            <a:endParaRPr lang="nb-NO" dirty="0"/>
          </a:p>
        </p:txBody>
      </p:sp>
      <p:pic>
        <p:nvPicPr>
          <p:cNvPr id="9" name="Bilde 8">
            <a:extLst>
              <a:ext uri="{FF2B5EF4-FFF2-40B4-BE49-F238E27FC236}">
                <a16:creationId xmlns:a16="http://schemas.microsoft.com/office/drawing/2014/main" id="{0E1E7B32-AAE6-91BF-2712-A7C06008BF6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022"/>
          <a:stretch>
            <a:fillRect/>
          </a:stretch>
        </p:blipFill>
        <p:spPr>
          <a:xfrm>
            <a:off x="5689487" y="453559"/>
            <a:ext cx="4330982" cy="2744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49932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856B46F6-7062-5005-F10A-5ADB5B229E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Headerfiler - tips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5CC4F63E-3589-1270-F6A4-588D4DE077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dirty="0"/>
              <a:t>#ifndef sjekker </a:t>
            </a:r>
            <a:br>
              <a:rPr lang="nb-NO" dirty="0"/>
            </a:br>
            <a:r>
              <a:rPr lang="nb-NO" dirty="0"/>
              <a:t>om pre-kompilatoren</a:t>
            </a:r>
            <a:br>
              <a:rPr lang="nb-NO" dirty="0"/>
            </a:br>
            <a:r>
              <a:rPr lang="nb-NO" dirty="0"/>
              <a:t>allerede har definert </a:t>
            </a:r>
            <a:br>
              <a:rPr lang="nb-NO" dirty="0"/>
            </a:br>
            <a:r>
              <a:rPr lang="nb-NO" dirty="0"/>
              <a:t>filnavnet</a:t>
            </a:r>
          </a:p>
          <a:p>
            <a:r>
              <a:rPr lang="nb-NO" dirty="0"/>
              <a:t>Om filnavnet allerede</a:t>
            </a:r>
            <a:br>
              <a:rPr lang="nb-NO" dirty="0"/>
            </a:br>
            <a:r>
              <a:rPr lang="nb-NO" dirty="0"/>
              <a:t>er definert tyder det på at headerfilen allerede er inkludert</a:t>
            </a:r>
          </a:p>
          <a:p>
            <a:pPr>
              <a:lnSpc>
                <a:spcPct val="150000"/>
              </a:lnSpc>
            </a:pPr>
            <a:r>
              <a:rPr lang="nb-NO" dirty="0"/>
              <a:t>Hindrer problemer</a:t>
            </a:r>
          </a:p>
        </p:txBody>
      </p:sp>
      <p:pic>
        <p:nvPicPr>
          <p:cNvPr id="7" name="Bilde 6">
            <a:extLst>
              <a:ext uri="{FF2B5EF4-FFF2-40B4-BE49-F238E27FC236}">
                <a16:creationId xmlns:a16="http://schemas.microsoft.com/office/drawing/2014/main" id="{DB5C9A60-0D23-E7B3-4844-E4ABF79349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4079" y="1437799"/>
            <a:ext cx="7061911" cy="2377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0758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C19ACB56-B27F-C814-E5C4-358B6D889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Filstruktur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B9AF8E94-796F-3AC9-4220-42A3AF9128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dirty="0"/>
              <a:t>.h og .c bør ligge sammen</a:t>
            </a:r>
          </a:p>
          <a:p>
            <a:pPr>
              <a:lnSpc>
                <a:spcPct val="150000"/>
              </a:lnSpc>
            </a:pPr>
            <a:r>
              <a:rPr lang="nb-NO" dirty="0"/>
              <a:t>Funksjoner som hører sammen i samme fil</a:t>
            </a:r>
          </a:p>
          <a:p>
            <a:pPr lvl="1"/>
            <a:r>
              <a:rPr lang="nb-NO" dirty="0"/>
              <a:t>Driverfunksjonene per enhet</a:t>
            </a:r>
          </a:p>
          <a:p>
            <a:pPr lvl="1"/>
            <a:r>
              <a:rPr lang="nb-NO" dirty="0"/>
              <a:t>Funksjoner som hører til samme funksjonalitet eller modul</a:t>
            </a:r>
          </a:p>
          <a:p>
            <a:pPr>
              <a:lnSpc>
                <a:spcPct val="150000"/>
              </a:lnSpc>
            </a:pPr>
            <a:r>
              <a:rPr lang="nb-NO" dirty="0"/>
              <a:t>Typisk /</a:t>
            </a:r>
            <a:r>
              <a:rPr lang="nb-NO" dirty="0" err="1"/>
              <a:t>src</a:t>
            </a:r>
            <a:r>
              <a:rPr lang="nb-NO" dirty="0"/>
              <a:t>-mappe</a:t>
            </a:r>
          </a:p>
          <a:p>
            <a:pPr>
              <a:lnSpc>
                <a:spcPct val="150000"/>
              </a:lnSpc>
            </a:pPr>
            <a:r>
              <a:rPr lang="nb-NO" dirty="0"/>
              <a:t>Logisk mappestruktur</a:t>
            </a:r>
          </a:p>
          <a:p>
            <a:pPr lvl="1"/>
            <a:r>
              <a:rPr lang="nb-NO" dirty="0"/>
              <a:t>Eks drivere, mellomvare</a:t>
            </a:r>
          </a:p>
          <a:p>
            <a:pPr lvl="1"/>
            <a:r>
              <a:rPr lang="nb-NO" dirty="0"/>
              <a:t>Andre skal kunne finne frem</a:t>
            </a:r>
          </a:p>
          <a:p>
            <a:endParaRPr lang="nb-NO" dirty="0"/>
          </a:p>
        </p:txBody>
      </p:sp>
      <p:pic>
        <p:nvPicPr>
          <p:cNvPr id="5" name="Bilde 4">
            <a:extLst>
              <a:ext uri="{FF2B5EF4-FFF2-40B4-BE49-F238E27FC236}">
                <a16:creationId xmlns:a16="http://schemas.microsoft.com/office/drawing/2014/main" id="{B1FCCB70-1C5A-7682-9993-5DB360BBD5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624" y="4001294"/>
            <a:ext cx="3756740" cy="2389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2974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D521998A-4EC4-BDF0-05D3-360CCDB06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Biblioteker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A5CDC064-7F5A-2F72-5F6E-9EE1E50A77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dirty="0"/>
              <a:t>Forhåndsskrevet kode</a:t>
            </a:r>
          </a:p>
          <a:p>
            <a:r>
              <a:rPr lang="nb-NO" dirty="0"/>
              <a:t>Generelle funksjoner</a:t>
            </a:r>
          </a:p>
          <a:p>
            <a:r>
              <a:rPr lang="nb-NO" dirty="0"/>
              <a:t>Slipper å skrive selv, andre har laget</a:t>
            </a:r>
          </a:p>
          <a:p>
            <a:endParaRPr lang="nb-NO" dirty="0"/>
          </a:p>
          <a:p>
            <a:r>
              <a:rPr lang="nb-NO" dirty="0"/>
              <a:t>Eks:</a:t>
            </a:r>
          </a:p>
          <a:p>
            <a:pPr lvl="1"/>
            <a:r>
              <a:rPr lang="nb-NO" dirty="0"/>
              <a:t>Drivere</a:t>
            </a:r>
          </a:p>
          <a:p>
            <a:pPr lvl="2"/>
            <a:r>
              <a:rPr lang="nb-NO" dirty="0"/>
              <a:t>Sensorer, </a:t>
            </a:r>
            <a:r>
              <a:rPr lang="nb-NO" dirty="0" err="1"/>
              <a:t>aktuatorer</a:t>
            </a:r>
            <a:endParaRPr lang="nb-NO" dirty="0"/>
          </a:p>
          <a:p>
            <a:pPr lvl="1"/>
            <a:r>
              <a:rPr lang="nb-NO" dirty="0"/>
              <a:t>Implementeringer av protokoller</a:t>
            </a:r>
          </a:p>
          <a:p>
            <a:pPr lvl="2"/>
            <a:r>
              <a:rPr lang="nb-NO" dirty="0"/>
              <a:t>HTTP, I</a:t>
            </a:r>
            <a:r>
              <a:rPr lang="nb-NO" baseline="30000" dirty="0"/>
              <a:t>2</a:t>
            </a:r>
            <a:r>
              <a:rPr lang="nb-NO" dirty="0"/>
              <a:t>C, MQTT</a:t>
            </a:r>
            <a:r>
              <a:rPr lang="nb-NO"/>
              <a:t>, Bluetooth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26253270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637</TotalTime>
  <Words>404</Words>
  <Application>Microsoft Office PowerPoint</Application>
  <PresentationFormat>Widescreen</PresentationFormat>
  <Paragraphs>96</Paragraphs>
  <Slides>20</Slides>
  <Notes>0</Notes>
  <HiddenSlides>0</HiddenSlides>
  <MMClips>0</MMClips>
  <ScaleCrop>false</ScaleCrop>
  <HeadingPairs>
    <vt:vector size="6" baseType="variant">
      <vt:variant>
        <vt:lpstr>Brukte skrifter</vt:lpstr>
      </vt:variant>
      <vt:variant>
        <vt:i4>3</vt:i4>
      </vt:variant>
      <vt:variant>
        <vt:lpstr>Tema</vt:lpstr>
      </vt:variant>
      <vt:variant>
        <vt:i4>1</vt:i4>
      </vt:variant>
      <vt:variant>
        <vt:lpstr>Lysbildetitler</vt:lpstr>
      </vt:variant>
      <vt:variant>
        <vt:i4>20</vt:i4>
      </vt:variant>
    </vt:vector>
  </HeadingPairs>
  <TitlesOfParts>
    <vt:vector size="24" baseType="lpstr">
      <vt:lpstr>Aptos</vt:lpstr>
      <vt:lpstr>Aptos Display</vt:lpstr>
      <vt:lpstr>Arial</vt:lpstr>
      <vt:lpstr>Office-tema</vt:lpstr>
      <vt:lpstr>AVR-kurs dag tre</vt:lpstr>
      <vt:lpstr>Dagsplan</vt:lpstr>
      <vt:lpstr>TWI</vt:lpstr>
      <vt:lpstr>TWI</vt:lpstr>
      <vt:lpstr>TWI – Lese data</vt:lpstr>
      <vt:lpstr>TWI – Lese data</vt:lpstr>
      <vt:lpstr>TWI – Lese data</vt:lpstr>
      <vt:lpstr>TWI – Skrive data</vt:lpstr>
      <vt:lpstr>TWI – Lese data</vt:lpstr>
      <vt:lpstr>TWI – Lese data</vt:lpstr>
      <vt:lpstr>TWI – Skrive data</vt:lpstr>
      <vt:lpstr>TWI – Lese data</vt:lpstr>
      <vt:lpstr>På Explorer</vt:lpstr>
      <vt:lpstr>SPI – Serial Peripheral Interface</vt:lpstr>
      <vt:lpstr>SPI</vt:lpstr>
      <vt:lpstr>Ryddig prosjekt</vt:lpstr>
      <vt:lpstr>Eksterne filer</vt:lpstr>
      <vt:lpstr>Headerfiler - tips</vt:lpstr>
      <vt:lpstr>Filstruktur</vt:lpstr>
      <vt:lpstr>Biblioteker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Torbjørn Gorsetbakk</dc:creator>
  <cp:lastModifiedBy>Torbjørn Gorsetbakk</cp:lastModifiedBy>
  <cp:revision>3</cp:revision>
  <dcterms:created xsi:type="dcterms:W3CDTF">2026-03-18T13:05:59Z</dcterms:created>
  <dcterms:modified xsi:type="dcterms:W3CDTF">2026-03-22T18:01:45Z</dcterms:modified>
</cp:coreProperties>
</file>
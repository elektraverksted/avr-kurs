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1" r:id="rId19"/>
    <p:sldId id="280" r:id="rId20"/>
    <p:sldId id="282" r:id="rId21"/>
    <p:sldId id="283" r:id="rId2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328C324-AC5C-B10B-9AEF-8E2FD0C3D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A855BF22-FD97-A233-3776-62F894F41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23173B1-A4EF-3409-D542-7F8532B5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88E3-7146-4465-86D4-0FCCB25395CD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B59C40C-CAD3-70D6-ED80-CDF02DC05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502FB1E-E4EF-C7D4-1405-F1DC29164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894EC-7C37-4455-A308-914DDECA429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9698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AD56148-5231-C42E-57FC-6E6ED961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F57587F-5C85-9215-81BD-C129E76E8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1DE74C9-0BEB-6638-7DAA-A72CD3C73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88E3-7146-4465-86D4-0FCCB25395CD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4966DFB-A257-0907-B557-01275595D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9AB4A92-B0AD-9062-EB8C-54686932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894EC-7C37-4455-A308-914DDECA429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686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8EA0D96-86A0-7F62-9747-D7189E546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461E94F-E9EA-A146-9D3B-0AAABBEB3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87A50D2-C532-DE8C-DF46-92F2904AB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88E3-7146-4465-86D4-0FCCB25395CD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63BD5DD-81CF-8F7D-9BCB-1F36410E9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AC446C3-7BD4-5F74-E6C7-3DAF3EC7B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894EC-7C37-4455-A308-914DDECA429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48300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B36B5FC-9FA0-845C-3B36-1271F913A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0C251F6-C2C4-D894-3937-CFB0264AE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E15EE7E4-C50B-5857-2F3F-B0A8E1BD5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5090E80C-8223-D8D7-E1DB-89F468A22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88E3-7146-4465-86D4-0FCCB25395CD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2A3905A7-D65B-24F8-2204-28B90BB39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182DD7EF-C4D6-C61F-95DB-8A97DB6B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894EC-7C37-4455-A308-914DDECA429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86681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3DF992A-D618-5382-7430-F202380D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8713EE4B-2380-5E79-BB6F-59A87260C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473858E3-CD84-A1FC-45EC-A0ED83C8D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30F2A85A-4838-DC4A-AE4B-F398814D5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264F3868-70BA-1F17-DFB5-9C099BB906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43F1CEDD-D103-AF90-20E6-357FF77F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88E3-7146-4465-86D4-0FCCB25395CD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3A7A1E09-B6A0-E46F-8DE9-3A851F3A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E530EB7E-5241-E60F-1C38-D4CF85E1A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894EC-7C37-4455-A308-914DDECA429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6774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B97A61E-7759-A22B-75C7-5A420AD7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D70ED86-B827-AF13-2D48-0FEFD0162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88E3-7146-4465-86D4-0FCCB25395CD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D17A07D8-9511-BE81-33B5-B0CCABC9C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C575758A-E2F2-51C6-88B9-1EFFFEC1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894EC-7C37-4455-A308-914DDECA429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06633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80859D35-D7B9-B80D-422B-72855B39B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88E3-7146-4465-86D4-0FCCB25395CD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2DE408EC-68B8-9677-CF1F-46759276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018CE9C-7368-7CF5-482D-CC1E55781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894EC-7C37-4455-A308-914DDECA429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9968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CBC647A-5D58-833D-BB2A-35AB504FA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1545F93-CC50-E6AC-59BB-E670B9287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AE5D55A6-F761-BCB3-1B97-B81DF8C41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5017AA7E-93AE-FD20-ABF8-F276AF1D0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88E3-7146-4465-86D4-0FCCB25395CD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A55F71F3-6FBA-37B4-EA30-7460871A2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BAD526F7-BEAA-EBC2-60AD-3A8F693C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894EC-7C37-4455-A308-914DDECA429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7441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748E0E5-16B0-B9B3-0202-6EB33665D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8CAA6758-A81D-BF8A-0AF1-EE0721915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3338455-9B06-19E9-E733-BD55E333B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D1795977-934A-7DB5-54A0-B42FE125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88E3-7146-4465-86D4-0FCCB25395CD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789F5EC-82DB-B822-A9B8-EF119CF9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52A3BD72-6958-C4FA-980C-457C0DB9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894EC-7C37-4455-A308-914DDECA429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3269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8DC99C1-3890-60A0-4B0B-CB87B6171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526B5D99-CA3C-EFE5-BF46-BB395B51D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E0374FC-8EDB-FA8B-5C10-5E729BCC4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88E3-7146-4465-86D4-0FCCB25395CD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6B9D77B-36B3-710B-9FA6-4A624450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860C0E9-0433-E8DE-10FD-D1B05347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894EC-7C37-4455-A308-914DDECA429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93534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C0044EAB-1A5A-AED0-D49F-49FB2B86B0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C6FA92BD-BF6E-9F72-2643-9A0F04E1F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A5A106A-D864-485A-F85B-67955B1C7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88E3-7146-4465-86D4-0FCCB25395CD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995E89D-4E2B-8A92-D432-1E99B88DA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3C0B6C9-C13A-C52D-D7AC-C097058E6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894EC-7C37-4455-A308-914DDECA429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2552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A304A42E-218A-BC2F-75C5-1941F2431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6DAA2959-3B28-1A17-AD0E-E3E9226F3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71388E3-163E-988E-8976-07DB6B28FF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588E3-7146-4465-86D4-0FCCB25395CD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E780A3A-24A4-0224-11F1-376A16AFF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3C2E03E-7557-B5FA-1D0E-4E58DD5AF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8894EC-7C37-4455-A308-914DDECA429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69229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erial_Peripheral_Interface" TargetMode="External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90093E8-0B47-C0DA-EE73-FBF65CE8B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3141"/>
            <a:ext cx="9144000" cy="1101060"/>
          </a:xfrm>
        </p:spPr>
        <p:txBody>
          <a:bodyPr/>
          <a:lstStyle/>
          <a:p>
            <a:r>
              <a:rPr lang="nb-NO" b="1" dirty="0"/>
              <a:t>AVR-kurs dag tre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6FB23C2-ECF6-587A-5653-3D306E7CE9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 dirty="0"/>
          </a:p>
        </p:txBody>
      </p:sp>
      <p:pic>
        <p:nvPicPr>
          <p:cNvPr id="1026" name="Picture 2" descr="Microchip | IAR">
            <a:extLst>
              <a:ext uri="{FF2B5EF4-FFF2-40B4-BE49-F238E27FC236}">
                <a16:creationId xmlns:a16="http://schemas.microsoft.com/office/drawing/2014/main" id="{3D7B7D23-9DCA-4009-1B2A-32ABDBC65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72" y="4090774"/>
            <a:ext cx="8224929" cy="240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Bilde 4">
            <a:extLst>
              <a:ext uri="{FF2B5EF4-FFF2-40B4-BE49-F238E27FC236}">
                <a16:creationId xmlns:a16="http://schemas.microsoft.com/office/drawing/2014/main" id="{58B82D83-3BE2-96A2-55D8-90E8866DD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29" y="4239397"/>
            <a:ext cx="2036806" cy="203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93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BD3F796-FB5D-62AF-224C-28144036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Dagsplan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E5B61BF-59B1-8E25-8B55-F97AD55FE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Kommunikasjonsprotokoller</a:t>
            </a:r>
          </a:p>
          <a:p>
            <a:pPr lvl="1"/>
            <a:r>
              <a:rPr lang="nb-NO" dirty="0"/>
              <a:t>TWI / I</a:t>
            </a:r>
            <a:r>
              <a:rPr lang="nb-NO" baseline="30000" dirty="0"/>
              <a:t>2</a:t>
            </a:r>
            <a:r>
              <a:rPr lang="nb-NO" dirty="0"/>
              <a:t>C</a:t>
            </a:r>
          </a:p>
          <a:p>
            <a:pPr lvl="1"/>
            <a:r>
              <a:rPr lang="nb-NO" dirty="0"/>
              <a:t>SPI</a:t>
            </a:r>
          </a:p>
          <a:p>
            <a:pPr lvl="1"/>
            <a:endParaRPr lang="nb-NO" dirty="0"/>
          </a:p>
          <a:p>
            <a:r>
              <a:rPr lang="nb-NO" dirty="0"/>
              <a:t>Ryddigere kode</a:t>
            </a:r>
          </a:p>
        </p:txBody>
      </p:sp>
    </p:spTree>
    <p:extLst>
      <p:ext uri="{BB962C8B-B14F-4D97-AF65-F5344CB8AC3E}">
        <p14:creationId xmlns:p14="http://schemas.microsoft.com/office/powerpoint/2010/main" val="4028320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83AD14D-7FCE-008F-22D5-5A65B36D1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TWI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893E738-530D-ECAC-209A-E4A008578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nb-NO" dirty="0" err="1"/>
              <a:t>Two</a:t>
            </a:r>
            <a:r>
              <a:rPr lang="nb-NO" dirty="0"/>
              <a:t> Wire </a:t>
            </a:r>
            <a:r>
              <a:rPr lang="nb-NO" dirty="0" err="1"/>
              <a:t>interface</a:t>
            </a:r>
            <a:endParaRPr lang="nb-NO" dirty="0"/>
          </a:p>
          <a:p>
            <a:pPr>
              <a:lnSpc>
                <a:spcPct val="150000"/>
              </a:lnSpc>
            </a:pPr>
            <a:r>
              <a:rPr lang="nb-NO" dirty="0"/>
              <a:t>Implementasjon av I</a:t>
            </a:r>
            <a:r>
              <a:rPr lang="nb-NO" baseline="30000" dirty="0"/>
              <a:t>2</a:t>
            </a:r>
            <a:r>
              <a:rPr lang="nb-NO" dirty="0"/>
              <a:t>C</a:t>
            </a:r>
          </a:p>
          <a:p>
            <a:pPr lvl="1">
              <a:lnSpc>
                <a:spcPct val="100000"/>
              </a:lnSpc>
            </a:pPr>
            <a:r>
              <a:rPr lang="nb-NO" dirty="0"/>
              <a:t>Inter-Integrated Circuit</a:t>
            </a:r>
          </a:p>
          <a:p>
            <a:pPr>
              <a:lnSpc>
                <a:spcPct val="150000"/>
              </a:lnSpc>
            </a:pPr>
            <a:r>
              <a:rPr lang="nb-NO" dirty="0"/>
              <a:t>Kommunikasjon mellom enheter</a:t>
            </a:r>
          </a:p>
          <a:p>
            <a:pPr>
              <a:lnSpc>
                <a:spcPct val="150000"/>
              </a:lnSpc>
            </a:pPr>
            <a:r>
              <a:rPr lang="nb-NO" dirty="0"/>
              <a:t>Slavemodell</a:t>
            </a:r>
          </a:p>
        </p:txBody>
      </p:sp>
    </p:spTree>
    <p:extLst>
      <p:ext uri="{BB962C8B-B14F-4D97-AF65-F5344CB8AC3E}">
        <p14:creationId xmlns:p14="http://schemas.microsoft.com/office/powerpoint/2010/main" val="323902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01A9259-71A5-8CFA-7225-6658B4E2D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TWI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CF85F72-3105-694A-5A84-D236F0704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SDA, SCL</a:t>
            </a:r>
          </a:p>
          <a:p>
            <a:pPr lvl="1"/>
            <a:r>
              <a:rPr lang="nb-NO" dirty="0"/>
              <a:t>Koblet til </a:t>
            </a:r>
            <a:r>
              <a:rPr lang="nb-NO" dirty="0" err="1"/>
              <a:t>Pullup</a:t>
            </a:r>
            <a:r>
              <a:rPr lang="nb-NO" dirty="0"/>
              <a:t>-motstand</a:t>
            </a:r>
          </a:p>
          <a:p>
            <a:pPr>
              <a:lnSpc>
                <a:spcPct val="150000"/>
              </a:lnSpc>
            </a:pPr>
            <a:r>
              <a:rPr lang="nb-NO" dirty="0"/>
              <a:t>Kontroller styrer klokken</a:t>
            </a:r>
          </a:p>
          <a:p>
            <a:pPr>
              <a:lnSpc>
                <a:spcPct val="150000"/>
              </a:lnSpc>
            </a:pPr>
            <a:r>
              <a:rPr lang="nb-NO" dirty="0"/>
              <a:t>Data på SDA</a:t>
            </a:r>
          </a:p>
          <a:p>
            <a:pPr lvl="1"/>
            <a:r>
              <a:rPr lang="nb-NO" dirty="0"/>
              <a:t>R/W</a:t>
            </a:r>
          </a:p>
          <a:p>
            <a:pPr lvl="1"/>
            <a:r>
              <a:rPr lang="nb-NO" dirty="0"/>
              <a:t>Linjen trekkes til 0V</a:t>
            </a:r>
          </a:p>
          <a:p>
            <a:pPr>
              <a:lnSpc>
                <a:spcPct val="150000"/>
              </a:lnSpc>
            </a:pPr>
            <a:r>
              <a:rPr lang="nb-NO" dirty="0"/>
              <a:t>Enhetsadresser</a:t>
            </a:r>
          </a:p>
        </p:txBody>
      </p:sp>
    </p:spTree>
    <p:extLst>
      <p:ext uri="{BB962C8B-B14F-4D97-AF65-F5344CB8AC3E}">
        <p14:creationId xmlns:p14="http://schemas.microsoft.com/office/powerpoint/2010/main" val="3531798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332BC-9807-97BB-4312-73C6A7FEF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AAA91D2-BE0C-6D3D-E414-127883F5C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TWI – Kommunikasjon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4F533D4C-890D-4C94-5848-3A9A77A2A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6" y="2593614"/>
            <a:ext cx="10463133" cy="4264386"/>
          </a:xfrm>
          <a:prstGeom prst="rect">
            <a:avLst/>
          </a:prstGeom>
        </p:spPr>
      </p:pic>
      <p:sp>
        <p:nvSpPr>
          <p:cNvPr id="8" name="Snakkeboble: rektangel med avrundede hjørner 7">
            <a:extLst>
              <a:ext uri="{FF2B5EF4-FFF2-40B4-BE49-F238E27FC236}">
                <a16:creationId xmlns:a16="http://schemas.microsoft.com/office/drawing/2014/main" id="{3A831136-1707-247D-E4E1-10810C65E9EC}"/>
              </a:ext>
            </a:extLst>
          </p:cNvPr>
          <p:cNvSpPr/>
          <p:nvPr/>
        </p:nvSpPr>
        <p:spPr>
          <a:xfrm>
            <a:off x="1887793" y="1378308"/>
            <a:ext cx="2320413" cy="1325563"/>
          </a:xfrm>
          <a:prstGeom prst="wedgeRoundRect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Nå kommer en melding</a:t>
            </a:r>
          </a:p>
        </p:txBody>
      </p:sp>
    </p:spTree>
    <p:extLst>
      <p:ext uri="{BB962C8B-B14F-4D97-AF65-F5344CB8AC3E}">
        <p14:creationId xmlns:p14="http://schemas.microsoft.com/office/powerpoint/2010/main" val="2974754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8F554-1E7B-AE2A-211D-5C8618F8C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D1C5BAD-7FD0-97F3-3E8A-54897CFAE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TWI – Kommunikasjon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8828605B-9C5A-063C-F9BF-5718A11F8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6" y="2593614"/>
            <a:ext cx="10463133" cy="4264386"/>
          </a:xfrm>
          <a:prstGeom prst="rect">
            <a:avLst/>
          </a:prstGeom>
        </p:spPr>
      </p:pic>
      <p:sp>
        <p:nvSpPr>
          <p:cNvPr id="8" name="Snakkeboble: rektangel med avrundede hjørner 7">
            <a:extLst>
              <a:ext uri="{FF2B5EF4-FFF2-40B4-BE49-F238E27FC236}">
                <a16:creationId xmlns:a16="http://schemas.microsoft.com/office/drawing/2014/main" id="{F175B8F9-D795-CC16-40D7-8F6C1BA17C0A}"/>
              </a:ext>
            </a:extLst>
          </p:cNvPr>
          <p:cNvSpPr/>
          <p:nvPr/>
        </p:nvSpPr>
        <p:spPr>
          <a:xfrm>
            <a:off x="1887793" y="1378308"/>
            <a:ext cx="2320413" cy="1325563"/>
          </a:xfrm>
          <a:prstGeom prst="wedgeRoundRect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0x02, jeg har data til deg</a:t>
            </a:r>
          </a:p>
        </p:txBody>
      </p:sp>
    </p:spTree>
    <p:extLst>
      <p:ext uri="{BB962C8B-B14F-4D97-AF65-F5344CB8AC3E}">
        <p14:creationId xmlns:p14="http://schemas.microsoft.com/office/powerpoint/2010/main" val="265022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5774A-33B1-6BC2-5569-495A52147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45242CA-C30C-EEC6-0A97-581144DA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TWI – Kommunikasjon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0672919D-973E-2105-519A-906B93F26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6" y="2593614"/>
            <a:ext cx="10463133" cy="4264386"/>
          </a:xfrm>
          <a:prstGeom prst="rect">
            <a:avLst/>
          </a:prstGeom>
        </p:spPr>
      </p:pic>
      <p:sp>
        <p:nvSpPr>
          <p:cNvPr id="8" name="Snakkeboble: rektangel med avrundede hjørner 7">
            <a:extLst>
              <a:ext uri="{FF2B5EF4-FFF2-40B4-BE49-F238E27FC236}">
                <a16:creationId xmlns:a16="http://schemas.microsoft.com/office/drawing/2014/main" id="{073DB157-FBEE-BAA6-DD2E-052FC76E3357}"/>
              </a:ext>
            </a:extLst>
          </p:cNvPr>
          <p:cNvSpPr/>
          <p:nvPr/>
        </p:nvSpPr>
        <p:spPr>
          <a:xfrm>
            <a:off x="1887793" y="1378308"/>
            <a:ext cx="2320413" cy="1325563"/>
          </a:xfrm>
          <a:prstGeom prst="wedgeRoundRect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Registeradresse</a:t>
            </a:r>
          </a:p>
        </p:txBody>
      </p:sp>
    </p:spTree>
    <p:extLst>
      <p:ext uri="{BB962C8B-B14F-4D97-AF65-F5344CB8AC3E}">
        <p14:creationId xmlns:p14="http://schemas.microsoft.com/office/powerpoint/2010/main" val="3293572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97D2F-0A0F-BA7C-F43C-60C9B2D7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AB7A3F4-213A-711B-2AD1-ED1020A7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TWI – Kommunikasjon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CC4CCB0D-B6AD-EFF9-C168-412081360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6" y="2593614"/>
            <a:ext cx="10463133" cy="4264386"/>
          </a:xfrm>
          <a:prstGeom prst="rect">
            <a:avLst/>
          </a:prstGeom>
        </p:spPr>
      </p:pic>
      <p:sp>
        <p:nvSpPr>
          <p:cNvPr id="8" name="Snakkeboble: rektangel med avrundede hjørner 7">
            <a:extLst>
              <a:ext uri="{FF2B5EF4-FFF2-40B4-BE49-F238E27FC236}">
                <a16:creationId xmlns:a16="http://schemas.microsoft.com/office/drawing/2014/main" id="{9759395D-8A0A-B5E3-0AB7-E1FDC6C5CBC5}"/>
              </a:ext>
            </a:extLst>
          </p:cNvPr>
          <p:cNvSpPr/>
          <p:nvPr/>
        </p:nvSpPr>
        <p:spPr>
          <a:xfrm>
            <a:off x="7511844" y="1347530"/>
            <a:ext cx="2320413" cy="1325563"/>
          </a:xfrm>
          <a:prstGeom prst="wedgeRoundRectCallout">
            <a:avLst>
              <a:gd name="adj1" fmla="val -20409"/>
              <a:gd name="adj2" fmla="val 118872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Ok! (ACK)</a:t>
            </a:r>
          </a:p>
        </p:txBody>
      </p:sp>
    </p:spTree>
    <p:extLst>
      <p:ext uri="{BB962C8B-B14F-4D97-AF65-F5344CB8AC3E}">
        <p14:creationId xmlns:p14="http://schemas.microsoft.com/office/powerpoint/2010/main" val="3497888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408E6-2525-8112-3740-10176C97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0CF7BA9-7484-6A77-CB40-FE69C883A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TWI – Kommunikasjon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FE75D30B-1FC3-1DB9-CADD-4A8B860AE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6" y="2593614"/>
            <a:ext cx="10463133" cy="4264386"/>
          </a:xfrm>
          <a:prstGeom prst="rect">
            <a:avLst/>
          </a:prstGeom>
        </p:spPr>
      </p:pic>
      <p:sp>
        <p:nvSpPr>
          <p:cNvPr id="8" name="Snakkeboble: rektangel med avrundede hjørner 7">
            <a:extLst>
              <a:ext uri="{FF2B5EF4-FFF2-40B4-BE49-F238E27FC236}">
                <a16:creationId xmlns:a16="http://schemas.microsoft.com/office/drawing/2014/main" id="{F8330F8E-D161-E834-298E-F92465A4586B}"/>
              </a:ext>
            </a:extLst>
          </p:cNvPr>
          <p:cNvSpPr/>
          <p:nvPr/>
        </p:nvSpPr>
        <p:spPr>
          <a:xfrm>
            <a:off x="1887793" y="1378308"/>
            <a:ext cx="2320413" cy="1325563"/>
          </a:xfrm>
          <a:prstGeom prst="wedgeRoundRect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La oss starte på nytt</a:t>
            </a:r>
          </a:p>
        </p:txBody>
      </p:sp>
    </p:spTree>
    <p:extLst>
      <p:ext uri="{BB962C8B-B14F-4D97-AF65-F5344CB8AC3E}">
        <p14:creationId xmlns:p14="http://schemas.microsoft.com/office/powerpoint/2010/main" val="689999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6264D-AC19-CC63-E5E1-B1FF0970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6858FB2-61D2-6F74-B7F7-BF9B50EA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TWI – Kommunikasjon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9E8245BA-EFCE-8035-FDCA-B5278CC37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6" y="2593614"/>
            <a:ext cx="10463133" cy="4264386"/>
          </a:xfrm>
          <a:prstGeom prst="rect">
            <a:avLst/>
          </a:prstGeom>
        </p:spPr>
      </p:pic>
      <p:sp>
        <p:nvSpPr>
          <p:cNvPr id="8" name="Snakkeboble: rektangel med avrundede hjørner 7">
            <a:extLst>
              <a:ext uri="{FF2B5EF4-FFF2-40B4-BE49-F238E27FC236}">
                <a16:creationId xmlns:a16="http://schemas.microsoft.com/office/drawing/2014/main" id="{476C5932-7F65-D5A2-1FC6-E03C13C3E99F}"/>
              </a:ext>
            </a:extLst>
          </p:cNvPr>
          <p:cNvSpPr/>
          <p:nvPr/>
        </p:nvSpPr>
        <p:spPr>
          <a:xfrm>
            <a:off x="1887793" y="1378308"/>
            <a:ext cx="2320413" cy="1325563"/>
          </a:xfrm>
          <a:prstGeom prst="wedgeRoundRect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0x02, jeg vil ha informasjon</a:t>
            </a:r>
          </a:p>
        </p:txBody>
      </p:sp>
    </p:spTree>
    <p:extLst>
      <p:ext uri="{BB962C8B-B14F-4D97-AF65-F5344CB8AC3E}">
        <p14:creationId xmlns:p14="http://schemas.microsoft.com/office/powerpoint/2010/main" val="3804854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EF4A9-4696-3252-035A-B1570FE29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042EB42-7070-D3BF-88EE-B8423800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TWI – Kommunikasjon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BE10DC65-3C48-BE0E-50C0-3E96AA1DE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6" y="2593614"/>
            <a:ext cx="10463133" cy="4264386"/>
          </a:xfrm>
          <a:prstGeom prst="rect">
            <a:avLst/>
          </a:prstGeom>
        </p:spPr>
      </p:pic>
      <p:sp>
        <p:nvSpPr>
          <p:cNvPr id="8" name="Snakkeboble: rektangel med avrundede hjørner 7">
            <a:extLst>
              <a:ext uri="{FF2B5EF4-FFF2-40B4-BE49-F238E27FC236}">
                <a16:creationId xmlns:a16="http://schemas.microsoft.com/office/drawing/2014/main" id="{2B6B883C-A6C9-2C87-5D49-64C442FD7DDE}"/>
              </a:ext>
            </a:extLst>
          </p:cNvPr>
          <p:cNvSpPr/>
          <p:nvPr/>
        </p:nvSpPr>
        <p:spPr>
          <a:xfrm>
            <a:off x="7482347" y="1479370"/>
            <a:ext cx="2320413" cy="1325563"/>
          </a:xfrm>
          <a:prstGeom prst="wedgeRoundRectCallout">
            <a:avLst>
              <a:gd name="adj1" fmla="val -20409"/>
              <a:gd name="adj2" fmla="val 118872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Ok! Her er data fra registeret du forespurte</a:t>
            </a:r>
          </a:p>
        </p:txBody>
      </p:sp>
    </p:spTree>
    <p:extLst>
      <p:ext uri="{BB962C8B-B14F-4D97-AF65-F5344CB8AC3E}">
        <p14:creationId xmlns:p14="http://schemas.microsoft.com/office/powerpoint/2010/main" val="4029240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1ED12-772A-BCFB-FCA4-9060F854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41D6150-A167-18D5-E9E5-3157192E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TWI – Kommunikasjon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690BC4E3-6F4B-1776-CFC9-E92F73F2D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6" y="2593614"/>
            <a:ext cx="10463133" cy="4264386"/>
          </a:xfrm>
          <a:prstGeom prst="rect">
            <a:avLst/>
          </a:prstGeom>
        </p:spPr>
      </p:pic>
      <p:sp>
        <p:nvSpPr>
          <p:cNvPr id="8" name="Snakkeboble: rektangel med avrundede hjørner 7">
            <a:extLst>
              <a:ext uri="{FF2B5EF4-FFF2-40B4-BE49-F238E27FC236}">
                <a16:creationId xmlns:a16="http://schemas.microsoft.com/office/drawing/2014/main" id="{D02E476F-C9C2-1A5A-51C2-737EBD1EE4AC}"/>
              </a:ext>
            </a:extLst>
          </p:cNvPr>
          <p:cNvSpPr/>
          <p:nvPr/>
        </p:nvSpPr>
        <p:spPr>
          <a:xfrm>
            <a:off x="1887793" y="1378308"/>
            <a:ext cx="2320413" cy="1325563"/>
          </a:xfrm>
          <a:prstGeom prst="wedgeRoundRect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Ok! (</a:t>
            </a:r>
            <a:r>
              <a:rPr lang="nb-NO" dirty="0" err="1">
                <a:solidFill>
                  <a:schemeClr val="tx1"/>
                </a:solidFill>
              </a:rPr>
              <a:t>Ack</a:t>
            </a:r>
            <a:r>
              <a:rPr lang="nb-NO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nb-NO" dirty="0">
                <a:solidFill>
                  <a:schemeClr val="tx1"/>
                </a:solidFill>
              </a:rPr>
              <a:t>Kommunikasjon over.</a:t>
            </a:r>
          </a:p>
        </p:txBody>
      </p:sp>
    </p:spTree>
    <p:extLst>
      <p:ext uri="{BB962C8B-B14F-4D97-AF65-F5344CB8AC3E}">
        <p14:creationId xmlns:p14="http://schemas.microsoft.com/office/powerpoint/2010/main" val="1770807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23DAB03-A866-780D-3A4A-C371ACDF7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På Explorer</a:t>
            </a:r>
          </a:p>
        </p:txBody>
      </p:sp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C35FBB80-E4B4-0DF0-ED00-C504C61E5E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02237"/>
            <a:ext cx="10421804" cy="2486372"/>
          </a:xfrm>
          <a:prstGeom prst="rect">
            <a:avLst/>
          </a:prstGeom>
        </p:spPr>
      </p:pic>
      <p:sp>
        <p:nvSpPr>
          <p:cNvPr id="6" name="TekstSylinder 5">
            <a:extLst>
              <a:ext uri="{FF2B5EF4-FFF2-40B4-BE49-F238E27FC236}">
                <a16:creationId xmlns:a16="http://schemas.microsoft.com/office/drawing/2014/main" id="{2BF88D81-A46A-F2FB-8890-18C78EF11F73}"/>
              </a:ext>
            </a:extLst>
          </p:cNvPr>
          <p:cNvSpPr txBox="1"/>
          <p:nvPr/>
        </p:nvSpPr>
        <p:spPr>
          <a:xfrm>
            <a:off x="6430297" y="6371303"/>
            <a:ext cx="5797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Fra </a:t>
            </a:r>
            <a:r>
              <a:rPr lang="nb-NO" dirty="0" err="1"/>
              <a:t>Curiosity</a:t>
            </a:r>
            <a:r>
              <a:rPr lang="nb-NO" dirty="0"/>
              <a:t> </a:t>
            </a:r>
            <a:r>
              <a:rPr lang="nb-NO" dirty="0" err="1"/>
              <a:t>Nano</a:t>
            </a:r>
            <a:r>
              <a:rPr lang="nb-NO" dirty="0"/>
              <a:t> Explorer User Guide(Hentet 18.03-26)</a:t>
            </a:r>
          </a:p>
        </p:txBody>
      </p:sp>
    </p:spTree>
    <p:extLst>
      <p:ext uri="{BB962C8B-B14F-4D97-AF65-F5344CB8AC3E}">
        <p14:creationId xmlns:p14="http://schemas.microsoft.com/office/powerpoint/2010/main" val="2664544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733E36F-321B-C9E9-820A-20FD56923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SPI – Serial </a:t>
            </a:r>
            <a:r>
              <a:rPr lang="nb-NO" dirty="0" err="1"/>
              <a:t>Peripheral</a:t>
            </a:r>
            <a:r>
              <a:rPr lang="nb-NO" dirty="0"/>
              <a:t> Interface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08B3CA3-C68B-417D-7358-13E30FD66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For kommunikasjon med periferi-enheter</a:t>
            </a:r>
          </a:p>
          <a:p>
            <a:r>
              <a:rPr lang="nb-NO" dirty="0"/>
              <a:t>Bruker fire pinner</a:t>
            </a:r>
          </a:p>
          <a:p>
            <a:pPr lvl="1"/>
            <a:r>
              <a:rPr lang="nb-NO" dirty="0"/>
              <a:t>MOSI (COPI)</a:t>
            </a:r>
          </a:p>
          <a:p>
            <a:pPr lvl="1"/>
            <a:r>
              <a:rPr lang="nb-NO" dirty="0"/>
              <a:t>MISO (CIPO)</a:t>
            </a:r>
          </a:p>
          <a:p>
            <a:pPr lvl="1"/>
            <a:r>
              <a:rPr lang="nb-NO" dirty="0"/>
              <a:t>SS (CS)</a:t>
            </a:r>
          </a:p>
          <a:p>
            <a:pPr lvl="1"/>
            <a:r>
              <a:rPr lang="nb-NO" dirty="0"/>
              <a:t>CLK</a:t>
            </a:r>
          </a:p>
          <a:p>
            <a:r>
              <a:rPr lang="nb-NO" dirty="0"/>
              <a:t>Kontroller styrer klokke og starter datatransaksjon</a:t>
            </a:r>
          </a:p>
          <a:p>
            <a:pPr lvl="1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35424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2652C1F-5E3F-283B-686A-C402B643B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SPI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418D357-1DEA-DF46-C2F1-5716DA93F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Symmetrisk dataoverføring</a:t>
            </a:r>
          </a:p>
          <a:p>
            <a:r>
              <a:rPr lang="nb-NO" dirty="0"/>
              <a:t>SS/CS blir lav</a:t>
            </a:r>
          </a:p>
          <a:p>
            <a:r>
              <a:rPr lang="nb-NO" dirty="0"/>
              <a:t>Data klargjøres og overføres </a:t>
            </a:r>
            <a:r>
              <a:rPr lang="nb-NO"/>
              <a:t>på klokkeslagene</a:t>
            </a:r>
            <a:endParaRPr lang="nb-NO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CDD6F6-3854-4125-4E3E-4DD702069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92638"/>
            <a:ext cx="10554930" cy="250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Sylinder 3">
            <a:extLst>
              <a:ext uri="{FF2B5EF4-FFF2-40B4-BE49-F238E27FC236}">
                <a16:creationId xmlns:a16="http://schemas.microsoft.com/office/drawing/2014/main" id="{F7850871-5598-210C-5AA7-C6136F3412F9}"/>
              </a:ext>
            </a:extLst>
          </p:cNvPr>
          <p:cNvSpPr txBox="1"/>
          <p:nvPr/>
        </p:nvSpPr>
        <p:spPr>
          <a:xfrm>
            <a:off x="4067126" y="6211669"/>
            <a:ext cx="8235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Adem </a:t>
            </a:r>
            <a:r>
              <a:rPr lang="nb-NO" dirty="0" err="1"/>
              <a:t>Güdük</a:t>
            </a:r>
            <a:r>
              <a:rPr lang="nb-NO" dirty="0"/>
              <a:t>, Hentet fra </a:t>
            </a:r>
            <a:r>
              <a:rPr lang="nb-NO" dirty="0">
                <a:hlinkClick r:id="rId3"/>
              </a:rPr>
              <a:t>https://en.wikipedia.org/wiki/Serial_Peripheral_Interface</a:t>
            </a:r>
            <a:endParaRPr lang="nb-NO" dirty="0"/>
          </a:p>
          <a:p>
            <a:r>
              <a:rPr lang="nb-NO" dirty="0"/>
              <a:t>Hentet 18.03-26</a:t>
            </a:r>
          </a:p>
        </p:txBody>
      </p:sp>
    </p:spTree>
    <p:extLst>
      <p:ext uri="{BB962C8B-B14F-4D97-AF65-F5344CB8AC3E}">
        <p14:creationId xmlns:p14="http://schemas.microsoft.com/office/powerpoint/2010/main" val="2286964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3DFE677-C940-85DC-2FD3-935CCD991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Ryddig prosjekt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E063FA7-EB41-4848-7C31-CB55512F0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nb-NO" dirty="0"/>
              <a:t>Lang kode er uleselig</a:t>
            </a:r>
          </a:p>
          <a:p>
            <a:pPr lvl="1"/>
            <a:r>
              <a:rPr lang="nb-NO" dirty="0"/>
              <a:t>Vanskelig å finne funksjoner</a:t>
            </a:r>
          </a:p>
          <a:p>
            <a:pPr lvl="1">
              <a:lnSpc>
                <a:spcPct val="150000"/>
              </a:lnSpc>
            </a:pPr>
            <a:r>
              <a:rPr lang="nb-NO" dirty="0"/>
              <a:t>Må lete etter riktig logikk</a:t>
            </a:r>
          </a:p>
          <a:p>
            <a:pPr>
              <a:lnSpc>
                <a:spcPct val="150000"/>
              </a:lnSpc>
            </a:pPr>
            <a:r>
              <a:rPr lang="nb-NO" dirty="0"/>
              <a:t>Biblioteker er nyttige</a:t>
            </a:r>
          </a:p>
          <a:p>
            <a:pPr>
              <a:lnSpc>
                <a:spcPct val="150000"/>
              </a:lnSpc>
            </a:pPr>
            <a:r>
              <a:rPr lang="nb-NO" dirty="0"/>
              <a:t>Løsning: Del i flere filer</a:t>
            </a:r>
          </a:p>
          <a:p>
            <a:pPr>
              <a:lnSpc>
                <a:spcPct val="150000"/>
              </a:lnSpc>
            </a:pPr>
            <a:r>
              <a:rPr lang="nb-NO" dirty="0"/>
              <a:t>Logisk fil/mappe-struktur</a:t>
            </a:r>
          </a:p>
          <a:p>
            <a:pPr>
              <a:lnSpc>
                <a:spcPct val="160000"/>
              </a:lnSpc>
            </a:pPr>
            <a:r>
              <a:rPr lang="nb-NO" dirty="0"/>
              <a:t>Funksjoner med beskrivende navn</a:t>
            </a:r>
          </a:p>
          <a:p>
            <a:pPr lvl="1">
              <a:lnSpc>
                <a:spcPct val="100000"/>
              </a:lnSpc>
            </a:pPr>
            <a:r>
              <a:rPr lang="nb-NO" dirty="0"/>
              <a:t>Aldri skriv en kodeblokk to ganger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741A0683-37D8-6C2D-C921-0EAEF4F60A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102"/>
          <a:stretch>
            <a:fillRect/>
          </a:stretch>
        </p:blipFill>
        <p:spPr>
          <a:xfrm>
            <a:off x="5968180" y="1205000"/>
            <a:ext cx="2740742" cy="3711129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0003A7AA-B351-756D-B892-3EC3BED5EC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44" r="62788"/>
          <a:stretch>
            <a:fillRect/>
          </a:stretch>
        </p:blipFill>
        <p:spPr>
          <a:xfrm>
            <a:off x="8974394" y="1205000"/>
            <a:ext cx="2974092" cy="371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438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8E0F834-A791-01A6-EB0C-EE23FB22B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Eksterne filer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EC9326D-DBA6-9167-CC19-CB21EA50B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0646"/>
          </a:xfrm>
        </p:spPr>
        <p:txBody>
          <a:bodyPr>
            <a:normAutofit/>
          </a:bodyPr>
          <a:lstStyle/>
          <a:p>
            <a:r>
              <a:rPr lang="nb-NO" dirty="0"/>
              <a:t>To typer filer</a:t>
            </a:r>
          </a:p>
          <a:p>
            <a:pPr lvl="1"/>
            <a:r>
              <a:rPr lang="nb-NO" dirty="0" err="1"/>
              <a:t>Headerfil</a:t>
            </a:r>
            <a:r>
              <a:rPr lang="nb-NO" dirty="0"/>
              <a:t> (.h)</a:t>
            </a:r>
          </a:p>
          <a:p>
            <a:pPr lvl="1"/>
            <a:r>
              <a:rPr lang="nb-NO" dirty="0"/>
              <a:t>Kildefil (.c)</a:t>
            </a:r>
          </a:p>
          <a:p>
            <a:pPr>
              <a:lnSpc>
                <a:spcPct val="150000"/>
              </a:lnSpc>
            </a:pPr>
            <a:r>
              <a:rPr lang="nb-NO" dirty="0" err="1"/>
              <a:t>Headerfil</a:t>
            </a:r>
            <a:r>
              <a:rPr lang="nb-NO" dirty="0"/>
              <a:t> erklærer funksjoner og variabler</a:t>
            </a:r>
          </a:p>
          <a:p>
            <a:pPr lvl="1"/>
            <a:r>
              <a:rPr lang="nb-NO" dirty="0"/>
              <a:t>Forteller kompilatoren at de eksisterer, input og output</a:t>
            </a:r>
          </a:p>
          <a:p>
            <a:pPr lvl="1"/>
            <a:r>
              <a:rPr lang="nb-NO" dirty="0"/>
              <a:t>Limes praktisk talt inn i fil når de inkluderes</a:t>
            </a:r>
          </a:p>
          <a:p>
            <a:pPr>
              <a:lnSpc>
                <a:spcPct val="150000"/>
              </a:lnSpc>
            </a:pPr>
            <a:r>
              <a:rPr lang="nb-NO" dirty="0"/>
              <a:t>Kildefil inneholder all kode</a:t>
            </a:r>
          </a:p>
          <a:p>
            <a:pPr lvl="1"/>
            <a:r>
              <a:rPr lang="nb-NO" dirty="0"/>
              <a:t>Kildefilen kompileres for seg selv, men kobles sammen med </a:t>
            </a:r>
            <a:r>
              <a:rPr lang="nb-NO" dirty="0" err="1"/>
              <a:t>main.c</a:t>
            </a:r>
            <a:r>
              <a:rPr lang="nb-NO" dirty="0"/>
              <a:t> i </a:t>
            </a:r>
            <a:r>
              <a:rPr lang="nb-NO" i="1" dirty="0"/>
              <a:t>linker</a:t>
            </a:r>
            <a:r>
              <a:rPr lang="nb-NO" dirty="0"/>
              <a:t>-trinnet av byggeprosessen</a:t>
            </a:r>
          </a:p>
          <a:p>
            <a:pPr lvl="1"/>
            <a:r>
              <a:rPr lang="nb-NO" dirty="0"/>
              <a:t>Viktig å inkludere tilhørende .h fil</a:t>
            </a:r>
          </a:p>
          <a:p>
            <a:pPr lvl="1"/>
            <a:endParaRPr lang="nb-NO" dirty="0"/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0E1E7B32-AAE6-91BF-2712-A7C06008BF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22"/>
          <a:stretch>
            <a:fillRect/>
          </a:stretch>
        </p:blipFill>
        <p:spPr>
          <a:xfrm>
            <a:off x="5689487" y="453559"/>
            <a:ext cx="4330982" cy="274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93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56B46F6-7062-5005-F10A-5ADB5B229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Headerfiler - tips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CC4F63E-3589-1270-F6A4-588D4DE07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#ifndef sjekker </a:t>
            </a:r>
            <a:br>
              <a:rPr lang="nb-NO" dirty="0"/>
            </a:br>
            <a:r>
              <a:rPr lang="nb-NO" dirty="0"/>
              <a:t>om pre-kompilatoren</a:t>
            </a:r>
            <a:br>
              <a:rPr lang="nb-NO" dirty="0"/>
            </a:br>
            <a:r>
              <a:rPr lang="nb-NO" dirty="0"/>
              <a:t>allerede har definert </a:t>
            </a:r>
            <a:br>
              <a:rPr lang="nb-NO" dirty="0"/>
            </a:br>
            <a:r>
              <a:rPr lang="nb-NO" dirty="0"/>
              <a:t>filnavnet</a:t>
            </a:r>
          </a:p>
          <a:p>
            <a:r>
              <a:rPr lang="nb-NO" dirty="0"/>
              <a:t>Om filnavnet allerede</a:t>
            </a:r>
            <a:br>
              <a:rPr lang="nb-NO" dirty="0"/>
            </a:br>
            <a:r>
              <a:rPr lang="nb-NO" dirty="0"/>
              <a:t>er definert tyder det på at headerfilen allerede er inkludert</a:t>
            </a:r>
          </a:p>
          <a:p>
            <a:pPr>
              <a:lnSpc>
                <a:spcPct val="150000"/>
              </a:lnSpc>
            </a:pPr>
            <a:r>
              <a:rPr lang="nb-NO" dirty="0"/>
              <a:t>Hindrer problemer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DB5C9A60-0D23-E7B3-4844-E4ABF7934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079" y="1437799"/>
            <a:ext cx="7061911" cy="237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5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19ACB56-B27F-C814-E5C4-358B6D889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Filstruktur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9AF8E94-796F-3AC9-4220-42A3AF912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.h og .c bør ligge sammen</a:t>
            </a:r>
          </a:p>
          <a:p>
            <a:pPr>
              <a:lnSpc>
                <a:spcPct val="150000"/>
              </a:lnSpc>
            </a:pPr>
            <a:r>
              <a:rPr lang="nb-NO" dirty="0"/>
              <a:t>Funksjoner som hører sammen i samme fil</a:t>
            </a:r>
          </a:p>
          <a:p>
            <a:pPr lvl="1"/>
            <a:r>
              <a:rPr lang="nb-NO" dirty="0"/>
              <a:t>Driverfunksjonene per enhet</a:t>
            </a:r>
          </a:p>
          <a:p>
            <a:pPr lvl="1"/>
            <a:r>
              <a:rPr lang="nb-NO" dirty="0"/>
              <a:t>Funksjoner som hører til samme funksjonalitet eller modul</a:t>
            </a:r>
          </a:p>
          <a:p>
            <a:pPr>
              <a:lnSpc>
                <a:spcPct val="150000"/>
              </a:lnSpc>
            </a:pPr>
            <a:r>
              <a:rPr lang="nb-NO" dirty="0"/>
              <a:t>Typisk /</a:t>
            </a:r>
            <a:r>
              <a:rPr lang="nb-NO" dirty="0" err="1"/>
              <a:t>src</a:t>
            </a:r>
            <a:r>
              <a:rPr lang="nb-NO" dirty="0"/>
              <a:t>-mappe</a:t>
            </a:r>
          </a:p>
          <a:p>
            <a:pPr>
              <a:lnSpc>
                <a:spcPct val="150000"/>
              </a:lnSpc>
            </a:pPr>
            <a:r>
              <a:rPr lang="nb-NO" dirty="0"/>
              <a:t>Logisk mappestruktur</a:t>
            </a:r>
          </a:p>
          <a:p>
            <a:pPr lvl="1"/>
            <a:r>
              <a:rPr lang="nb-NO" dirty="0"/>
              <a:t>Eks drivere, mellomvare</a:t>
            </a:r>
          </a:p>
          <a:p>
            <a:pPr lvl="1"/>
            <a:r>
              <a:rPr lang="nb-NO" dirty="0"/>
              <a:t>Andre skal kunne finne frem</a:t>
            </a:r>
          </a:p>
          <a:p>
            <a:endParaRPr lang="nb-NO" dirty="0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B1FCCB70-1C5A-7682-9993-5DB360BBD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624" y="4001294"/>
            <a:ext cx="3756740" cy="238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7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521998A-4EC4-BDF0-05D3-360CCDB06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Biblioteker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5CDC064-7F5A-2F72-5F6E-9EE1E50A7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Forhåndsskrevet kode</a:t>
            </a:r>
          </a:p>
          <a:p>
            <a:r>
              <a:rPr lang="nb-NO" dirty="0"/>
              <a:t>Generelle funksjoner</a:t>
            </a:r>
          </a:p>
          <a:p>
            <a:r>
              <a:rPr lang="nb-NO" dirty="0"/>
              <a:t>Slipper å skrive selv, andre har laget</a:t>
            </a:r>
          </a:p>
          <a:p>
            <a:endParaRPr lang="nb-NO" dirty="0"/>
          </a:p>
          <a:p>
            <a:r>
              <a:rPr lang="nb-NO" dirty="0"/>
              <a:t>Eks:</a:t>
            </a:r>
          </a:p>
          <a:p>
            <a:pPr lvl="1"/>
            <a:r>
              <a:rPr lang="nb-NO" dirty="0"/>
              <a:t>Drivere</a:t>
            </a:r>
          </a:p>
          <a:p>
            <a:pPr lvl="2"/>
            <a:r>
              <a:rPr lang="nb-NO" dirty="0"/>
              <a:t>Sensorer, </a:t>
            </a:r>
            <a:r>
              <a:rPr lang="nb-NO" dirty="0" err="1"/>
              <a:t>aktuatorer</a:t>
            </a:r>
            <a:endParaRPr lang="nb-NO" dirty="0"/>
          </a:p>
          <a:p>
            <a:pPr lvl="1"/>
            <a:r>
              <a:rPr lang="nb-NO" dirty="0"/>
              <a:t>Implementeringer av protokoller</a:t>
            </a:r>
          </a:p>
          <a:p>
            <a:pPr lvl="2"/>
            <a:r>
              <a:rPr lang="nb-NO" dirty="0"/>
              <a:t>HTTP, I</a:t>
            </a:r>
            <a:r>
              <a:rPr lang="nb-NO" baseline="30000" dirty="0"/>
              <a:t>2</a:t>
            </a:r>
            <a:r>
              <a:rPr lang="nb-NO" dirty="0"/>
              <a:t>C, MQTT</a:t>
            </a:r>
            <a:r>
              <a:rPr lang="nb-NO"/>
              <a:t>, Bluetooth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25327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E6C409-3126-1DC5-6706-DF5B568A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Dagens oppgave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34F40BA-E547-1D8F-EB0B-A93B27DA7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Litt I</a:t>
            </a:r>
            <a:r>
              <a:rPr lang="nb-NO" baseline="30000" dirty="0"/>
              <a:t>2</a:t>
            </a:r>
            <a:r>
              <a:rPr lang="nb-NO" dirty="0"/>
              <a:t>C kommunikasjon</a:t>
            </a:r>
          </a:p>
          <a:p>
            <a:r>
              <a:rPr lang="nb-NO" dirty="0"/>
              <a:t>Bruk av biblioteker</a:t>
            </a:r>
          </a:p>
          <a:p>
            <a:endParaRPr lang="nb-NO" dirty="0"/>
          </a:p>
          <a:p>
            <a:r>
              <a:rPr lang="nb-NO" dirty="0"/>
              <a:t>Legg til I</a:t>
            </a:r>
            <a:r>
              <a:rPr lang="nb-NO" baseline="30000" dirty="0"/>
              <a:t>2</a:t>
            </a:r>
            <a:r>
              <a:rPr lang="nb-NO" dirty="0"/>
              <a:t>C-Host komponent</a:t>
            </a:r>
          </a:p>
          <a:p>
            <a:pPr lvl="1"/>
            <a:r>
              <a:rPr lang="nb-NO" dirty="0"/>
              <a:t>Endre navn til I2C-Host</a:t>
            </a:r>
          </a:p>
          <a:p>
            <a:pPr lvl="1"/>
            <a:r>
              <a:rPr lang="nb-NO" dirty="0"/>
              <a:t>Pass på at Host </a:t>
            </a:r>
            <a:r>
              <a:rPr lang="nb-NO" dirty="0" err="1"/>
              <a:t>lib</a:t>
            </a:r>
            <a:r>
              <a:rPr lang="nb-NO" dirty="0"/>
              <a:t> er TWI0</a:t>
            </a:r>
          </a:p>
          <a:p>
            <a:pPr lvl="1"/>
            <a:r>
              <a:rPr lang="nb-NO" dirty="0"/>
              <a:t>Skru på </a:t>
            </a:r>
            <a:r>
              <a:rPr lang="nb-NO" dirty="0" err="1"/>
              <a:t>Interrupt</a:t>
            </a:r>
            <a:r>
              <a:rPr lang="nb-NO" dirty="0"/>
              <a:t> Driven, </a:t>
            </a:r>
            <a:r>
              <a:rPr lang="nb-NO" dirty="0" err="1"/>
              <a:t>interrupts</a:t>
            </a:r>
            <a:r>
              <a:rPr lang="nb-NO" dirty="0"/>
              <a:t> for Read og Write og globale </a:t>
            </a:r>
            <a:r>
              <a:rPr lang="nb-NO" dirty="0" err="1"/>
              <a:t>interrupts</a:t>
            </a:r>
            <a:endParaRPr lang="nb-NO" dirty="0"/>
          </a:p>
          <a:p>
            <a:pPr lvl="1"/>
            <a:endParaRPr lang="nb-NO" dirty="0"/>
          </a:p>
          <a:p>
            <a:r>
              <a:rPr lang="nb-NO" dirty="0"/>
              <a:t>Vis status på knapper om dere har tid</a:t>
            </a:r>
          </a:p>
        </p:txBody>
      </p:sp>
    </p:spTree>
    <p:extLst>
      <p:ext uri="{BB962C8B-B14F-4D97-AF65-F5344CB8AC3E}">
        <p14:creationId xmlns:p14="http://schemas.microsoft.com/office/powerpoint/2010/main" val="1254857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440</Words>
  <Application>Microsoft Office PowerPoint</Application>
  <PresentationFormat>Widescreen</PresentationFormat>
  <Paragraphs>106</Paragraphs>
  <Slides>21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Office-tema</vt:lpstr>
      <vt:lpstr>AVR-kurs dag tre</vt:lpstr>
      <vt:lpstr>Dagsplan</vt:lpstr>
      <vt:lpstr>TWI</vt:lpstr>
      <vt:lpstr>TWI</vt:lpstr>
      <vt:lpstr>TWI – Kommunikasjon</vt:lpstr>
      <vt:lpstr>TWI – Kommunikasjon</vt:lpstr>
      <vt:lpstr>TWI – Kommunikasjon</vt:lpstr>
      <vt:lpstr>TWI – Kommunikasjon</vt:lpstr>
      <vt:lpstr>TWI – Kommunikasjon</vt:lpstr>
      <vt:lpstr>TWI – Kommunikasjon</vt:lpstr>
      <vt:lpstr>TWI – Kommunikasjon</vt:lpstr>
      <vt:lpstr>TWI – Kommunikasjon</vt:lpstr>
      <vt:lpstr>På Explorer</vt:lpstr>
      <vt:lpstr>SPI – Serial Peripheral Interface</vt:lpstr>
      <vt:lpstr>SPI</vt:lpstr>
      <vt:lpstr>Ryddig prosjekt</vt:lpstr>
      <vt:lpstr>Eksterne filer</vt:lpstr>
      <vt:lpstr>Headerfiler - tips</vt:lpstr>
      <vt:lpstr>Filstruktur</vt:lpstr>
      <vt:lpstr>Biblioteker</vt:lpstr>
      <vt:lpstr>Dagens oppgave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Torbjørn Gorsetbakk</dc:creator>
  <cp:lastModifiedBy>Torbjørn Gorsetbakk</cp:lastModifiedBy>
  <cp:revision>6</cp:revision>
  <dcterms:created xsi:type="dcterms:W3CDTF">2026-03-18T13:05:59Z</dcterms:created>
  <dcterms:modified xsi:type="dcterms:W3CDTF">2026-03-23T08:16:36Z</dcterms:modified>
</cp:coreProperties>
</file>